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sp2_pres/un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777240"/>
            <a:ext cx="1371600" cy="1216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PSP2 — IA para Universitários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502920" y="3310128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— Fechamento do ciclo (Sprints 1–5)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550408" y="4023360"/>
            <a:ext cx="109728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6" name="Shape 3"/>
          <p:cNvSpPr/>
          <p:nvPr/>
        </p:nvSpPr>
        <p:spPr>
          <a:xfrm>
            <a:off x="5550408" y="4023360"/>
            <a:ext cx="320040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22452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455371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Murahovschi   ·   Pedro Henrique   ·   Isaac Abdala   ·   Guilherme Cauã   ·   Luis Felipe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02920" y="59436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  ·   Engenharia de Produção   ·   2026.1   ·   25/06/2026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0020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50800" dist="25400" dir="5400000">
              <a:srgbClr val="7F8A99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63500" dist="38100" dir="5400000">
              <a:srgbClr val="9AA7B4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COMEÇAMOS · A DOR QUE A GENTE VIVE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que a gente usa não conhece a nossa matéria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743200"/>
            <a:ext cx="2645359" cy="2606040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806450000" dist="483870000" dir="324000000000">
              <a:srgbClr val="9AA7B4">
                <a:alpha val="45000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743200"/>
            <a:ext cx="68580" cy="260604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154680"/>
            <a:ext cx="232531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85800" y="4343400"/>
            <a:ext cx="227959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IA genérica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contexto acadêmico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349447" y="2743200"/>
            <a:ext cx="2645359" cy="2606040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0241915000000" dist="6145149000000" dir="19440000000000000">
              <a:srgbClr val="9AA7B4">
                <a:alpha val="4500000000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49447" y="2743200"/>
            <a:ext cx="68580" cy="260604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6" name="Text 13"/>
          <p:cNvSpPr/>
          <p:nvPr/>
        </p:nvSpPr>
        <p:spPr>
          <a:xfrm>
            <a:off x="3532327" y="3154680"/>
            <a:ext cx="232531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3532327" y="4343400"/>
            <a:ext cx="227959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disciplinas/semestre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múltiplos formatos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974" y="2743200"/>
            <a:ext cx="2645359" cy="2606040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30072320500000000" dist="78043392300000000" dir="1.1664e+21">
              <a:srgbClr val="9AA7B4">
                <a:alpha val="450000000000000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95974" y="2743200"/>
            <a:ext cx="68580" cy="260604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0" name="Text 17"/>
          <p:cNvSpPr/>
          <p:nvPr/>
        </p:nvSpPr>
        <p:spPr>
          <a:xfrm>
            <a:off x="6378854" y="3154680"/>
            <a:ext cx="232531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3–5h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6378854" y="4343400"/>
            <a:ext cx="227959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 só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organizando material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43416" y="2743200"/>
            <a:ext cx="2645359" cy="2606040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65191847035e+21" dist="991151082210000000000" dir="6.9984e+25">
              <a:srgbClr val="9AA7B4">
                <a:alpha val="4.5e+24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43416" y="2743200"/>
            <a:ext cx="68580" cy="260604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4" name="Text 21"/>
          <p:cNvSpPr/>
          <p:nvPr/>
        </p:nvSpPr>
        <p:spPr>
          <a:xfrm>
            <a:off x="9226296" y="3154680"/>
            <a:ext cx="232531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9226296" y="4343400"/>
            <a:ext cx="227959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material de estudo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perda + retrabalho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IA — é falta de contexto e de organização.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645160000" dist="322580000" dir="324000000000">
              <a:srgbClr val="7F8A99">
                <a:alpha val="50000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2.0979364573445003e+25" dist="1.2587618744067e+25" dir="4.19904e+30">
              <a:srgbClr val="9AA7B4">
                <a:alpha val="4.5e+2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IDEIA · O QUE QUEREMOS RESOLVER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lugar só pra organizar o estudo da gente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502920" y="2468880"/>
            <a:ext cx="6263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gente recebe material solto — PDFs, slides, fotos, DOCX — espalhado em cinco sistemas.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perde mais tempo organizando do que estudando.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2920" y="388620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gente recebe de volta: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489704"/>
            <a:ext cx="137160" cy="137160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4370832"/>
            <a:ext cx="5907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resumo confiável de cada documento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946904"/>
            <a:ext cx="137160" cy="137160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4828032"/>
            <a:ext cx="5907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nomeado e organizado por matéria, automaticamente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404104"/>
            <a:ext cx="137160" cy="137160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" y="5285232"/>
            <a:ext cx="5907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de prompts prontos pra qualquer IA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5861304"/>
            <a:ext cx="137160" cy="137160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" y="5742432"/>
            <a:ext cx="5907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Drive do aluno como espelho do estudo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organizando. Mais tempo aprendendo.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178040" y="2468880"/>
            <a:ext cx="4507992" cy="3657600"/>
          </a:xfrm>
          <a:prstGeom prst="roundRect">
            <a:avLst>
              <a:gd name="adj" fmla="val 1750"/>
            </a:avLst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6643793008275154e+29" dist="1.598627580496509e+29" dir="2.519424e+35">
              <a:srgbClr val="9AA7B4">
                <a:alpha val="4.5e+34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88352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em alto nível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24928" y="3090672"/>
            <a:ext cx="530352" cy="53035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5" name="Text 22"/>
          <p:cNvSpPr/>
          <p:nvPr/>
        </p:nvSpPr>
        <p:spPr>
          <a:xfrm>
            <a:off x="7424928" y="3090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092440" y="3063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envia
</a:t>
            </a:r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slides, fotos, DOCX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24928" y="3840480"/>
            <a:ext cx="530352" cy="53035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8" name="Text 25"/>
          <p:cNvSpPr/>
          <p:nvPr/>
        </p:nvSpPr>
        <p:spPr>
          <a:xfrm>
            <a:off x="7424928" y="3840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8092440" y="38130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entende
</a:t>
            </a:r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matéria e conteúdo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24928" y="4590288"/>
            <a:ext cx="530352" cy="53035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1" name="Text 28"/>
          <p:cNvSpPr/>
          <p:nvPr/>
        </p:nvSpPr>
        <p:spPr>
          <a:xfrm>
            <a:off x="7424928" y="45902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8092440" y="456285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condensa
</a:t>
            </a:r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e gera a revisão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24928" y="5340096"/>
            <a:ext cx="530352" cy="53035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4" name="Text 31"/>
          <p:cNvSpPr/>
          <p:nvPr/>
        </p:nvSpPr>
        <p:spPr>
          <a:xfrm>
            <a:off x="7424928" y="5340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8092440" y="531266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usa
</a:t>
            </a:r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+ prompts personalizados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95044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8193532000000" dist="4096766000000" dir="19440000000000000">
              <a:srgbClr val="7F8A99">
                <a:alpha val="5000000000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950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3.3837617120509443e+33" dist="2.0302570272305663e+33" dir="1.5116544e+40">
              <a:srgbClr val="9AA7B4">
                <a:alpha val="4.5e+3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PRÁTICA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material bruto ao estudo pronto, em 5 passos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194401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4.297377374304699e+37" dist="2.578426424582819e+37" dir="9.069926400000001e+44">
              <a:srgbClr val="9AA7B4">
                <a:alpha val="4.5e+4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697480"/>
            <a:ext cx="1944014" cy="5303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228039" y="2980944"/>
            <a:ext cx="493776" cy="493776"/>
          </a:xfrm>
          <a:prstGeom prst="ellipse">
            <a:avLst/>
          </a:prstGeom>
          <a:solidFill>
            <a:srgbClr val="008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28039" y="2980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94360" y="356616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360" y="3977640"/>
            <a:ext cx="176113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brutos: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PPTX,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imagens, MD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483510" y="3899916"/>
            <a:ext cx="292608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17" name="Shape 14"/>
          <p:cNvSpPr/>
          <p:nvPr/>
        </p:nvSpPr>
        <p:spPr>
          <a:xfrm>
            <a:off x="2812694" y="2697480"/>
            <a:ext cx="194401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5.457669265366968e+41" dist="3.2746015592201804e+41" dir="5.44195584e+49">
              <a:srgbClr val="9AA7B4">
                <a:alpha val="4.5e+4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12694" y="2697480"/>
            <a:ext cx="1944014" cy="5303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6"/>
          <p:cNvSpPr/>
          <p:nvPr/>
        </p:nvSpPr>
        <p:spPr>
          <a:xfrm>
            <a:off x="3537814" y="2980944"/>
            <a:ext cx="493776" cy="493776"/>
          </a:xfrm>
          <a:prstGeom prst="ellipse">
            <a:avLst/>
          </a:prstGeom>
          <a:solidFill>
            <a:srgbClr val="008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37814" y="2980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904134" y="356616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904134" y="3977640"/>
            <a:ext cx="176113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 e tipo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conteúdo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793285" y="3899916"/>
            <a:ext cx="292608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24" name="Shape 21"/>
          <p:cNvSpPr/>
          <p:nvPr/>
        </p:nvSpPr>
        <p:spPr>
          <a:xfrm>
            <a:off x="5122469" y="2697480"/>
            <a:ext cx="194401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6.93123996701605e+45" dist="4.158743980209629e+45" dir="3.2651735040000005e+54">
              <a:srgbClr val="9AA7B4">
                <a:alpha val="4.5e+54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22469" y="2697480"/>
            <a:ext cx="1944014" cy="5303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6" name="Shape 23"/>
          <p:cNvSpPr/>
          <p:nvPr/>
        </p:nvSpPr>
        <p:spPr>
          <a:xfrm>
            <a:off x="5847588" y="2980944"/>
            <a:ext cx="493776" cy="493776"/>
          </a:xfrm>
          <a:prstGeom prst="ellipse">
            <a:avLst/>
          </a:prstGeom>
          <a:solidFill>
            <a:srgbClr val="008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47588" y="2980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213909" y="356616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213909" y="3977640"/>
            <a:ext cx="176113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e comprime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alterar fórmulas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tabelas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103059" y="3899916"/>
            <a:ext cx="292608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31" name="Shape 28"/>
          <p:cNvSpPr/>
          <p:nvPr/>
        </p:nvSpPr>
        <p:spPr>
          <a:xfrm>
            <a:off x="7432243" y="2697480"/>
            <a:ext cx="194401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8.802674758110384e+49" dist="5.281604854866228e+49" dir="1.9591041024000004e+59">
              <a:srgbClr val="9AA7B4">
                <a:alpha val="4.5e+59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32243" y="2697480"/>
            <a:ext cx="1944014" cy="5303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3" name="Shape 30"/>
          <p:cNvSpPr/>
          <p:nvPr/>
        </p:nvSpPr>
        <p:spPr>
          <a:xfrm>
            <a:off x="8157362" y="2980944"/>
            <a:ext cx="493776" cy="493776"/>
          </a:xfrm>
          <a:prstGeom prst="ellipse">
            <a:avLst/>
          </a:prstGeom>
          <a:solidFill>
            <a:srgbClr val="008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57362" y="2980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7523683" y="356616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23683" y="3977640"/>
            <a:ext cx="176113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Renomeia e organiza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Google Drive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matéria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412834" y="3899916"/>
            <a:ext cx="292608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42018" y="2697480"/>
            <a:ext cx="194401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1179396942800187e+54" dist="6.70763816568011e+53" dir="1.1754624614400003e+64">
              <a:srgbClr val="9AA7B4">
                <a:alpha val="4.5e+64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742018" y="2697480"/>
            <a:ext cx="1944014" cy="5303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0" name="Shape 37"/>
          <p:cNvSpPr/>
          <p:nvPr/>
        </p:nvSpPr>
        <p:spPr>
          <a:xfrm>
            <a:off x="10467137" y="2980944"/>
            <a:ext cx="493776" cy="493776"/>
          </a:xfrm>
          <a:prstGeom prst="ellipse">
            <a:avLst/>
          </a:prstGeom>
          <a:solidFill>
            <a:srgbClr val="008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67137" y="2980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9833458" y="356616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833458" y="3977640"/>
            <a:ext cx="176113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prompts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02920" y="5852160"/>
            <a:ext cx="11183112" cy="502920"/>
          </a:xfrm>
          <a:prstGeom prst="roundRect">
            <a:avLst>
              <a:gd name="adj" fmla="val 32727"/>
            </a:avLst>
          </a:prstGeom>
          <a:solidFill>
            <a:srgbClr val="DDF0E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419783411735624e+58" dist="8.518700470413739e+57" dir="7.052774768640002e+68">
              <a:srgbClr val="9AA7B4">
                <a:alpha val="4.5e+69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formatos suportados   ·   não altera fórmulas/dados   ·   nomenclatura padronizada [MATÉRIA] - [TIPO] - [DESCRIÇÃO]   ·   &lt; 60s por documento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020824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04057856400000000" dist="52028928200000000" dir="1.1664e+21">
              <a:srgbClr val="7F8A99">
                <a:alpha val="500000000000000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REPLANEJAMENTO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1.8031249329042424e+62" dist="1.081874959742545e+62" dir="4.2316648611840007e+73">
              <a:srgbClr val="9AA7B4">
                <a:alpha val="4.5e+7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PLANO INICIAL AO PLANO REAL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Mudamos o plano pra ele contar a verdade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4983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289968664788388e+66" dist="1.373981198873032e+66" dir="2.5389989167104004e+78">
              <a:srgbClr val="9AA7B4">
                <a:alpha val="4.5e+7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788920"/>
            <a:ext cx="4983480" cy="502920"/>
          </a:xfrm>
          <a:prstGeom prst="rect">
            <a:avLst/>
          </a:prstGeom>
          <a:solidFill>
            <a:srgbClr val="55606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788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4 SPRINTS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Fundação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40233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Inteligência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77240" y="45262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Integração + Testes com usuários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50292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Feedback + Artigo + Apresentação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623560" y="3931920"/>
            <a:ext cx="640080" cy="457200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2788920"/>
            <a:ext cx="4983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908260204281253e+70" dist="1.7449561225687507e+70" dir="1.5233993500262402e+83">
              <a:srgbClr val="9AA7B4">
                <a:alpha val="4.5e+8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2788920"/>
            <a:ext cx="4983480" cy="2743200"/>
          </a:xfrm>
          <a:prstGeom prst="rect">
            <a:avLst/>
          </a:prstGeom>
          <a:ln w="19050">
            <a:solidFill>
              <a:srgbClr val="0085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2788920"/>
            <a:ext cx="4983480" cy="5029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2788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· 5 SPRINTS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766560" y="346557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Fundação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66560" y="38862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Inteligência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66560" y="43068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Hardening completo do sistema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66560" y="47274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Artigo completo e revisado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66560" y="51480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Jornada do cliente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32000"/>
            </a:avLst>
          </a:prstGeom>
          <a:solidFill>
            <a:srgbClr val="DDF0E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3.693490459437191e+74" dist="2.2160942756623134e+74" dir="9.14039610015744e+87">
              <a:srgbClr val="9AA7B4">
                <a:alpha val="4.5e+89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cresceu na prática (segurança, LGPD, jornada). Hoje o plano e o produto contam a mesma história.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32153477628e+21" dist="660767388140000000000" dir="6.9984e+25">
              <a:srgbClr val="7F8A99">
                <a:alpha val="5e+2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4.690732883485232e+78" dist="2.814439730091138e+78" dir="5.484237660094465e+92">
              <a:srgbClr val="9AA7B4">
                <a:alpha val="4.5e+9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COMPLETO EM 5 SPRINTS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 produto — 19 histórias, 69 tarefas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395728"/>
            <a:ext cx="2645359" cy="896112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5.957230762026245e+82" dist="3.574338457215745e+82" dir="3.2905425960566786e+97">
              <a:srgbClr val="9AA7B4">
                <a:alpha val="4.5e+9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395728"/>
            <a:ext cx="68580" cy="896112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395728"/>
            <a:ext cx="2279599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</a:t>
            </a:r>
            <a:pPr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3349447" y="2395728"/>
            <a:ext cx="2645359" cy="896112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7.565683067773332e+86" dist="4.539409840663996e+86" dir="1.9743255576340073e+102">
              <a:srgbClr val="9AA7B4">
                <a:alpha val="4.5e+10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49447" y="2395728"/>
            <a:ext cx="68580" cy="896112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5" name="Text 12"/>
          <p:cNvSpPr/>
          <p:nvPr/>
        </p:nvSpPr>
        <p:spPr>
          <a:xfrm>
            <a:off x="3605479" y="2395728"/>
            <a:ext cx="2279599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 </a:t>
            </a:r>
            <a:pPr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6195974" y="2395728"/>
            <a:ext cx="2645359" cy="896112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9.608417496072131e+90" dist="5.765050497643275e+90" dir="1.1845953345804043e+107">
              <a:srgbClr val="9AA7B4">
                <a:alpha val="4.5e+10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95974" y="2395728"/>
            <a:ext cx="68580" cy="896112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8" name="Text 15"/>
          <p:cNvSpPr/>
          <p:nvPr/>
        </p:nvSpPr>
        <p:spPr>
          <a:xfrm>
            <a:off x="6452006" y="2395728"/>
            <a:ext cx="2279599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4000" dirty="0"/>
          </a:p>
        </p:txBody>
      </p:sp>
      <p:sp>
        <p:nvSpPr>
          <p:cNvPr id="19" name="Shape 16"/>
          <p:cNvSpPr/>
          <p:nvPr/>
        </p:nvSpPr>
        <p:spPr>
          <a:xfrm>
            <a:off x="9043416" y="2395728"/>
            <a:ext cx="2645359" cy="896112"/>
          </a:xfrm>
          <a:prstGeom prst="rect">
            <a:avLst/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2202690220011606e+95" dist="7.321614132006959e+94" dir="7.107572007482426e+111">
              <a:srgbClr val="9AA7B4">
                <a:alpha val="4.4999999999999995e+114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43416" y="2395728"/>
            <a:ext cx="68580" cy="896112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1" name="Text 18"/>
          <p:cNvSpPr/>
          <p:nvPr/>
        </p:nvSpPr>
        <p:spPr>
          <a:xfrm>
            <a:off x="9299448" y="2395728"/>
            <a:ext cx="2279599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4000" dirty="0"/>
          </a:p>
        </p:txBody>
      </p:sp>
      <p:sp>
        <p:nvSpPr>
          <p:cNvPr id="22" name="Shape 19"/>
          <p:cNvSpPr/>
          <p:nvPr/>
        </p:nvSpPr>
        <p:spPr>
          <a:xfrm>
            <a:off x="502920" y="3520440"/>
            <a:ext cx="2091233" cy="45720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549741657941474e+99" dist="9.298449947648839e+98" dir="4.2645432044894554e+116">
              <a:srgbClr val="9AA7B4">
                <a:alpha val="4.4999999999999995e+119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3520440"/>
            <a:ext cx="2091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3977640"/>
            <a:ext cx="209123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9681719055856718e+103" dist="1.1809031433514024e+103" dir="2.5587259226936733e+121">
              <a:srgbClr val="9AA7B4">
                <a:alpha val="4.4999999999999995e+124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4096512"/>
            <a:ext cx="18169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
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H1–H4 · 21 tarefas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40080" y="49377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2.4995783200938032e+107" dist="1.499746992056281e+107" dir="1.535235553616204e+126">
              <a:srgbClr val="9AA7B4">
                <a:alpha val="4.4999999999999995e+129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" y="49377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77033" y="3520440"/>
            <a:ext cx="2091233" cy="45720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3.17446446651913e+111" dist="1.904678679911477e+111" dir="9.211413321697224e+130">
              <a:srgbClr val="9AA7B4">
                <a:alpha val="4.5e+134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777033" y="3520440"/>
            <a:ext cx="2091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777033" y="3977640"/>
            <a:ext cx="209123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4.0315698724792955e+115" dist="2.418941923487576e+115" dir="5.526847993018334e+135">
              <a:srgbClr val="9AA7B4">
                <a:alpha val="4.5e+139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914193" y="4096512"/>
            <a:ext cx="18169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
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H5–H7 · 13 tarefas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2914193" y="49377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5.120093738048705e+119" dist="3.0720562428292216e+119" dir="3.3161087958110005e+140">
              <a:srgbClr val="9AA7B4">
                <a:alpha val="4.5e+144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914193" y="49377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50231" y="3520440"/>
            <a:ext cx="2091233" cy="45720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6.502519047321855e+123" dist="3.9015114283931116e+123" dir="1.9896652774866004e+145">
              <a:srgbClr val="9AA7B4">
                <a:alpha val="4.5e+149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050231" y="3520440"/>
            <a:ext cx="2091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050231" y="3977640"/>
            <a:ext cx="209123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8.258199190098756e+127" dist="4.954919514059251e+127" dir="1.1937991664919603e+150">
              <a:srgbClr val="9AA7B4">
                <a:alpha val="4.5e+154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187391" y="4096512"/>
            <a:ext cx="18169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
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H13–H18 · 18 tarefas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5187391" y="49377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1.0487912971425421e+132" dist="6.2927477828552495e+131" dir="7.162794998951762e+154">
              <a:srgbClr val="9AA7B4">
                <a:alpha val="4.5e+159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187391" y="49377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324344" y="3520440"/>
            <a:ext cx="2091233" cy="45720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3319649473710286e+136" dist="7.991789684226167e+135" dir="4.297676999371057e+159">
              <a:srgbClr val="9AA7B4">
                <a:alpha val="4.5000000000000003e+164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324344" y="3520440"/>
            <a:ext cx="2091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7324344" y="3977640"/>
            <a:ext cx="209123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6915954831612062e+140" dist="1.0149572898967231e+140" dir="2.5786061996226343e+164">
              <a:srgbClr val="9AA7B4">
                <a:alpha val="4.5e+169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461504" y="4096512"/>
            <a:ext cx="18169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
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H19–H20 · 6 tarefas</a:t>
            </a:r>
            <a:endParaRPr lang="en-US" sz="1450" dirty="0"/>
          </a:p>
        </p:txBody>
      </p:sp>
      <p:sp>
        <p:nvSpPr>
          <p:cNvPr id="44" name="Shape 41"/>
          <p:cNvSpPr/>
          <p:nvPr/>
        </p:nvSpPr>
        <p:spPr>
          <a:xfrm>
            <a:off x="7461504" y="49377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2.148326263614732e+144" dist="1.2889957581688384e+144" dir="1.5471637197735807e+169">
              <a:srgbClr val="9AA7B4">
                <a:alpha val="4.4999999999999995e+174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7461504" y="49377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597542" y="3520440"/>
            <a:ext cx="2091233" cy="45720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2.7283743547907096e+148" dist="1.6370246128744248e+148" dir="9.282982318641485e+173">
              <a:srgbClr val="9AA7B4">
                <a:alpha val="4.4999999999999997e+179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9597542" y="3520440"/>
            <a:ext cx="2091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9597542" y="3977640"/>
            <a:ext cx="209123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3.465035430584201e+152" dist="2.0790212583505195e+152" dir="5.569789391184891e+178">
              <a:srgbClr val="9AA7B4">
                <a:alpha val="4.4999999999999996e+184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9734702" y="4096512"/>
            <a:ext cx="18169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cliente
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H21–H24 · 11 tarefas</a:t>
            </a:r>
            <a:endParaRPr lang="en-US" sz="1450" dirty="0"/>
          </a:p>
        </p:txBody>
      </p:sp>
      <p:sp>
        <p:nvSpPr>
          <p:cNvPr id="50" name="Shape 47"/>
          <p:cNvSpPr/>
          <p:nvPr/>
        </p:nvSpPr>
        <p:spPr>
          <a:xfrm>
            <a:off x="9734702" y="49377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4.400594996841935e+156" dist="2.64035699810516e+156" dir="3.3418736347109347e+183">
              <a:srgbClr val="9AA7B4">
                <a:alpha val="4.5e+189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734702" y="49377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F7F9FB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5.588755645989258e+160" dist="3.353253387593553e+160" dir="2.0051241808265608e+188">
              <a:srgbClr val="9AA7B4">
                <a:alpha val="4.5e+194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777240" y="559612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também atualizadas
</a:t>
            </a:r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de tarefa (T35–T69) · relatórios por sprint · relatório geral · artigo ENEGEP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6783491658756e+25" dist="8.391745829378e+24" dir="4.19904e+30">
              <a:srgbClr val="7F8A99">
                <a:alpha val="5.000000000000001e+2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7.097719670406357e+164" dist="4.2586318022438123e+164" dir="1.2030745084959364e+193">
              <a:srgbClr val="9AA7B4">
                <a:alpha val="4.5e+19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COMPLETO · DO COMEÇO AO FIM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sprints, lado a lado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2091233" cy="64008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9.014103981416073e+168" dist="5.408462388849642e+168" dir="7.218447050975619e+197">
              <a:srgbClr val="9AA7B4">
                <a:alpha val="4.4999999999999995e+204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2660904"/>
            <a:ext cx="20912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935224"/>
            <a:ext cx="20912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246120"/>
            <a:ext cx="209123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1447912056398413e+173" dist="6.868747233839046e+172" dir="4.3310682305853715e+202">
              <a:srgbClr val="9AA7B4">
                <a:alpha val="4.4999999999999996e+20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" y="3483864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2104" y="3429000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&amp; stack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" y="4050792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" y="3995928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upload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" y="4617720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" y="4562856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drag-and-drop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53949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1.4538848311625985e+177" dist="8.723308986975589e+176" dir="2.598640938351223e+207">
              <a:srgbClr val="9AA7B4">
                <a:alpha val="4.5e+214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53949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77033" y="2606040"/>
            <a:ext cx="2091233" cy="64008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8464337355765e+181" dist="1.1078602413458997e+181" dir="1.5591845630107338e+212">
              <a:srgbClr val="9AA7B4">
                <a:alpha val="4.4999999999999996e+219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777033" y="2660904"/>
            <a:ext cx="20912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77033" y="2935224"/>
            <a:ext cx="20912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2777033" y="3246120"/>
            <a:ext cx="209123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344970844182155e+185" dist="1.4069825065092926e+185" dir="9.355107378064403e+216">
              <a:srgbClr val="9AA7B4">
                <a:alpha val="4.5e+224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05049" y="3483864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7" name="Text 24"/>
          <p:cNvSpPr/>
          <p:nvPr/>
        </p:nvSpPr>
        <p:spPr>
          <a:xfrm>
            <a:off x="3106217" y="3429000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LLM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905049" y="4050792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9" name="Text 26"/>
          <p:cNvSpPr/>
          <p:nvPr/>
        </p:nvSpPr>
        <p:spPr>
          <a:xfrm>
            <a:off x="3106217" y="3995928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Drive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905049" y="4617720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31" name="Text 28"/>
          <p:cNvSpPr/>
          <p:nvPr/>
        </p:nvSpPr>
        <p:spPr>
          <a:xfrm>
            <a:off x="3106217" y="4562856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biblioteca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914193" y="53949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2.978112972111337e+189" dist="1.7868677832668018e+189" dir="5.613064426838642e+221">
              <a:srgbClr val="9AA7B4">
                <a:alpha val="4.4999999999999997e+229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914193" y="53949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50231" y="2606040"/>
            <a:ext cx="2091233" cy="64008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3.782203474581398e+193" dist="2.2693220847488382e+193" dir="3.367838656103185e+226">
              <a:srgbClr val="9AA7B4">
                <a:alpha val="4.5e+234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050231" y="2660904"/>
            <a:ext cx="20912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50231" y="2935224"/>
            <a:ext cx="20912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050231" y="3246120"/>
            <a:ext cx="209123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4.803398412718375e+197" dist="2.8820390476310245e+197" dir="2.020703193661911e+231">
              <a:srgbClr val="9AA7B4">
                <a:alpha val="4.5e+239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178247" y="3483864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39" name="Text 36"/>
          <p:cNvSpPr/>
          <p:nvPr/>
        </p:nvSpPr>
        <p:spPr>
          <a:xfrm>
            <a:off x="5379415" y="3429000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RLS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178247" y="4050792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41" name="Text 38"/>
          <p:cNvSpPr/>
          <p:nvPr/>
        </p:nvSpPr>
        <p:spPr>
          <a:xfrm>
            <a:off x="5379415" y="3995928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resiliente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178247" y="4617720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43" name="Text 40"/>
          <p:cNvSpPr/>
          <p:nvPr/>
        </p:nvSpPr>
        <p:spPr>
          <a:xfrm>
            <a:off x="5379415" y="4562856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Observabilidade, a11y, CI/CD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187391" y="53949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6.100315984152336e+201" dist="3.6601895904914013e+201" dir="1.2124219161971466e+236">
              <a:srgbClr val="9AA7B4">
                <a:alpha val="4.4999999999999997e+244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187391" y="53949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324344" y="2606040"/>
            <a:ext cx="2091233" cy="64008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7.747401299873467e+205" dist="4.648440779924079e+205" dir="7.27453149718288e+240">
              <a:srgbClr val="9AA7B4">
                <a:alpha val="4.5e+249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324344" y="2660904"/>
            <a:ext cx="20912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324344" y="2935224"/>
            <a:ext cx="20912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7324344" y="3246120"/>
            <a:ext cx="209123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9.839199650839303e+209" dist="5.9035197905035806e+209" dir="4.364718898309728e+245">
              <a:srgbClr val="9AA7B4">
                <a:alpha val="4.5e+254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452360" y="3483864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51" name="Text 48"/>
          <p:cNvSpPr/>
          <p:nvPr/>
        </p:nvSpPr>
        <p:spPr>
          <a:xfrm>
            <a:off x="7653528" y="3429000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ABNT (6 seções)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7452360" y="4050792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53" name="Text 50"/>
          <p:cNvSpPr/>
          <p:nvPr/>
        </p:nvSpPr>
        <p:spPr>
          <a:xfrm>
            <a:off x="7653528" y="3995928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DSR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452360" y="4617720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55" name="Text 52"/>
          <p:cNvSpPr/>
          <p:nvPr/>
        </p:nvSpPr>
        <p:spPr>
          <a:xfrm>
            <a:off x="7653528" y="4562856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&amp; submissão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461504" y="53949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1.2495783556565913e+214" dist="7.497470133939547e+213" dir="2.6188313389858368e+250">
              <a:srgbClr val="9AA7B4">
                <a:alpha val="4.5e+259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7461504" y="53949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9597542" y="2606040"/>
            <a:ext cx="2091233" cy="640080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1.586964511683871e+218" dist="9.521787070103225e+217" dir="1.571298803391502e+255">
              <a:srgbClr val="9AA7B4">
                <a:alpha val="4.5e+264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9597542" y="2660904"/>
            <a:ext cx="20912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9597542" y="2935224"/>
            <a:ext cx="20912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9597542" y="3246120"/>
            <a:ext cx="209123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0154449298385163e+222" dist="1.2092669579031096e+222" dir="9.427792820349012e+259">
              <a:srgbClr val="9AA7B4">
                <a:alpha val="4.5e+269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9725558" y="3483864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63" name="Text 60"/>
          <p:cNvSpPr/>
          <p:nvPr/>
        </p:nvSpPr>
        <p:spPr>
          <a:xfrm>
            <a:off x="9926726" y="3429000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LGPD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9725558" y="4050792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65" name="Text 62"/>
          <p:cNvSpPr/>
          <p:nvPr/>
        </p:nvSpPr>
        <p:spPr>
          <a:xfrm>
            <a:off x="9926726" y="3995928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+ SIGAA + Drive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9725558" y="4617720"/>
            <a:ext cx="109728" cy="109728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67" name="Text 64"/>
          <p:cNvSpPr/>
          <p:nvPr/>
        </p:nvSpPr>
        <p:spPr>
          <a:xfrm>
            <a:off x="9926726" y="4562856"/>
            <a:ext cx="16523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cliente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9734702" y="5394960"/>
            <a:ext cx="1816913" cy="310896"/>
          </a:xfrm>
          <a:prstGeom prst="rect">
            <a:avLst/>
          </a:prstGeom>
          <a:solidFill>
            <a:srgbClr val="DDF0E3"/>
          </a:solidFill>
          <a:ln/>
          <a:effectLst>
            <a:outerShdw sx="100000" sy="100000" kx="0" ky="0" algn="bl" rotWithShape="0" blurRad="2.5596150608949156e+226" dist="1.5357690365369493e+226" dir="5.656675692209407e+264">
              <a:srgbClr val="9AA7B4">
                <a:alpha val="4.5000000000000005e+274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9734702" y="5394960"/>
            <a:ext cx="18169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1" name="Text 68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sprints, todas concluídas — uma linha só, do começo ao fim.</a:t>
            </a:r>
            <a:endParaRPr lang="en-US" sz="1700" dirty="0"/>
          </a:p>
        </p:txBody>
      </p:sp>
      <p:sp>
        <p:nvSpPr>
          <p:cNvPr id="72" name="Text 69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56916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2.1315034406620118e+29" dist="1.0657517203310059e+29" dir="2.519424e+35">
              <a:srgbClr val="7F8A99">
                <a:alpha val="5.000000000000001e+3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27569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REAL &amp; ROBUSTEZ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3.250711127336543e+230" dist="1.950426676401926e+230" dir="3.3940054153256444e+269">
              <a:srgbClr val="9AA7B4">
                <a:alpha val="4.5000000000000004e+27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HARDENING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passou a funcionar de verdade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331720"/>
            <a:ext cx="210494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4.12840313171741e+234" dist="2.4770418790304458e+234" dir="2.0364032491953868e+274">
              <a:srgbClr val="9AA7B4">
                <a:alpha val="4.5000000000000004e+28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331720"/>
            <a:ext cx="2104949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2496312"/>
            <a:ext cx="177576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autenticação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7512" y="3017520"/>
            <a:ext cx="177576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segura, sessão e proteção de rotas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772461" y="2331720"/>
            <a:ext cx="210494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5.24307197728111e+238" dist="3.145843186368666e+238" dir="1.221841949517232e+279">
              <a:srgbClr val="9AA7B4">
                <a:alpha val="4.500000000000001e+289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72461" y="2331720"/>
            <a:ext cx="2104949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6" name="Text 13"/>
          <p:cNvSpPr/>
          <p:nvPr/>
        </p:nvSpPr>
        <p:spPr>
          <a:xfrm>
            <a:off x="2937053" y="2496312"/>
            <a:ext cx="177576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Google Drive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937053" y="3017520"/>
            <a:ext cx="177576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refresh de token, upload idempotente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42002" y="2331720"/>
            <a:ext cx="210494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6.65870141114701e+242" dist="3.995220846688206e+242" dir="7.331051697103393e+283">
              <a:srgbClr val="9AA7B4">
                <a:alpha val="4.500000000000001e+29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42002" y="2331720"/>
            <a:ext cx="2104949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0" name="Text 17"/>
          <p:cNvSpPr/>
          <p:nvPr/>
        </p:nvSpPr>
        <p:spPr>
          <a:xfrm>
            <a:off x="5206594" y="2496312"/>
            <a:ext cx="177576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de pastas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206594" y="3017520"/>
            <a:ext cx="177576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por semestre e matéria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1542" y="2331720"/>
            <a:ext cx="210494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8.456550792156703e+246" dist="5.0739304752940216e+246" dir="4.3986310182620354e+288">
              <a:srgbClr val="9AA7B4">
                <a:alpha val="4.500000000000001e+299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1542" y="2331720"/>
            <a:ext cx="2104949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4" name="Text 21"/>
          <p:cNvSpPr/>
          <p:nvPr/>
        </p:nvSpPr>
        <p:spPr>
          <a:xfrm>
            <a:off x="7476134" y="2496312"/>
            <a:ext cx="177576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ponta-a-ponta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476134" y="3017520"/>
            <a:ext cx="177576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upload à exportação, sem passo manual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581083" y="2331720"/>
            <a:ext cx="210494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0739819506039013e+251" dist="6.443891703623408e+250" dir="2.6391786109572213e+293">
              <a:srgbClr val="9AA7B4">
                <a:alpha val="4.500000000000001e+30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581083" y="2331720"/>
            <a:ext cx="2104949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8" name="Text 25"/>
          <p:cNvSpPr/>
          <p:nvPr/>
        </p:nvSpPr>
        <p:spPr>
          <a:xfrm>
            <a:off x="9745675" y="2496312"/>
            <a:ext cx="177576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sólido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745675" y="3017520"/>
            <a:ext cx="177576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anti-escalada, tokens fora do navegador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4343400"/>
            <a:ext cx="11183112" cy="1417320"/>
          </a:xfrm>
          <a:prstGeom prst="roundRect">
            <a:avLst>
              <a:gd name="adj" fmla="val 3226"/>
            </a:avLst>
          </a:prstGeom>
          <a:solidFill>
            <a:srgbClr val="DDF0E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3639570772669546e+255" dist="8.183742463601727e+254" dir="1.5835071665743328e+298">
              <a:srgbClr val="9AA7B4">
                <a:alpha val="Infinity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2920" y="4343400"/>
            <a:ext cx="11183112" cy="1417320"/>
          </a:xfrm>
          <a:prstGeom prst="roundRect">
            <a:avLst>
              <a:gd name="adj" fmla="val 3226"/>
            </a:avLst>
          </a:prstGeom>
          <a:ln w="19050">
            <a:solidFill>
              <a:srgbClr val="00854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45262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guiado por 4 rodadas de auditoria — ~200 achados, 1 crítico (escalada de admin) resolvido.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mais: correção de bugs · correção de falhas de segurança · otimizações de código · inovações (calendário, cronograma, biblioteca de prompts).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peças soltas a um fluxo sólido.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2.707009369640755e+33" dist="1.3535046848203775e+33" dir="1.5116544e+40">
              <a:srgbClr val="7F8A99">
                <a:alpha val="5.000000000000001e+3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1.7322254881290324e+259" dist="1.0393352928774194e+259" dir="9.501042999445996e+302">
              <a:srgbClr val="9AA7B4">
                <a:alpha val="Infinity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COMBINADO · ENTREGAMOS MAIS DO QUE PROMETEMOS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gente entregou além do combinado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468880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1999263699238713e+263" dist="1.3199558219543225e+263" dir="5.700625799667598e+307">
              <a:srgbClr val="9AA7B4">
                <a:alpha val="Infinity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468880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61518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aluno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3035808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UnB, onboarding, busca/filtros, arquivar/excluir, tema escuro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6824" y="2468880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7939064898033167e+267" dist="1.6763438938819895e+267" dir="Infinity">
              <a:srgbClr val="9AA7B4">
                <a:alpha val="Infinity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06824" y="2468880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6" name="Text 13"/>
          <p:cNvSpPr/>
          <p:nvPr/>
        </p:nvSpPr>
        <p:spPr>
          <a:xfrm>
            <a:off x="4489704" y="261518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9704" y="3035808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atividade, métricas pessoais, painel administrativo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10728" y="2468880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3.548261242050212e+271" dist="2.1289567452301266e+271" dir="Infinity">
              <a:srgbClr val="9AA7B4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10728" y="2468880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0" name="Text 17"/>
          <p:cNvSpPr/>
          <p:nvPr/>
        </p:nvSpPr>
        <p:spPr>
          <a:xfrm>
            <a:off x="8293608" y="261518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privacidade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93608" y="3035808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acesso, sandbox anti-injeção, LGPD completa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041648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4.50629177740377e+275" dist="2.7037750664422608e+275" dir="Infinity">
              <a:srgbClr val="9AA7B4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4041648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41879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do pipeline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4608576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4 camadas (LLM-as-judge), import SIGAA, flashcards por IA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306824" y="4041648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5.722990557302787e+279" dist="3.433794334381671e+279" dir="Infinity">
              <a:srgbClr val="9AA7B4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06824" y="4041648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8" name="Text 25"/>
          <p:cNvSpPr/>
          <p:nvPr/>
        </p:nvSpPr>
        <p:spPr>
          <a:xfrm>
            <a:off x="4489704" y="41879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89704" y="4608576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sem PII, tempo real, CI/CD com gate, auditoria multi-frente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110728" y="4041648"/>
            <a:ext cx="3575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7.26819800777454e+283" dist="4.360918804664722e+283" dir="Infinity">
              <a:srgbClr val="9AA7B4">
                <a:alpha val="Infinity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110728" y="4041648"/>
            <a:ext cx="3575304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32" name="Text 29"/>
          <p:cNvSpPr/>
          <p:nvPr/>
        </p:nvSpPr>
        <p:spPr>
          <a:xfrm>
            <a:off x="8293608" y="41879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293608" y="4608576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modelo sem deploy, multi-provider de IA, biblioteca de prompts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02920" y="5989320"/>
            <a:ext cx="11183112" cy="457200"/>
          </a:xfrm>
          <a:prstGeom prst="roundRect">
            <a:avLst>
              <a:gd name="adj" fmla="val 32000"/>
            </a:avLst>
          </a:prstGeom>
          <a:solidFill>
            <a:srgbClr val="DDF0E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9.230611469873665e+287" dist="5.538366881924197e+287" dir="Infinity">
              <a:srgbClr val="9AA7B4">
                <a:alpha val="Infinity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cresceu — e o plano acompanhou.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25 entregas fora do backlog original.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810512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3.437901899443759e+37" dist="1.7189509497218795e+37" dir="9.069926400000001e+44">
              <a:srgbClr val="7F8A99">
                <a:alpha val="5.0000000000000004e+4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1.1722876566739555e+292" dist="7.033725940043731e+291" dir="Infinity">
              <a:srgbClr val="9AA7B4">
                <a:alpha val="Infinity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· O QUE TRAVOU E O QUE FALTA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travamos — com honestidade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35448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4888053239759236e+296" dist="8.932831943855538e+295" dir="Infinity">
              <a:srgbClr val="9AA7B4">
                <a:alpha val="Infinity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286000"/>
            <a:ext cx="68580" cy="2286000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514600"/>
            <a:ext cx="548640" cy="548640"/>
          </a:xfrm>
          <a:prstGeom prst="ellipse">
            <a:avLst/>
          </a:prstGeom>
          <a:solidFill>
            <a:srgbClr val="FBE9D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31546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rígida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7240" y="3493008"/>
            <a:ext cx="304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Resolvida pelo replanejamento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767328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 cedo demais; o que o produto pedia virava "extra". O plano em 5 sprints corrigiu isso.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22064" y="2286000"/>
            <a:ext cx="35448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1.890782761449423e+300" dist="1.1344696568696533e+300" dir="Infinity">
              <a:srgbClr val="9AA7B4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22064" y="2286000"/>
            <a:ext cx="68580" cy="2286000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19" name="Shape 16"/>
          <p:cNvSpPr/>
          <p:nvPr/>
        </p:nvSpPr>
        <p:spPr>
          <a:xfrm>
            <a:off x="4596384" y="2514600"/>
            <a:ext cx="548640" cy="548640"/>
          </a:xfrm>
          <a:prstGeom prst="ellipse">
            <a:avLst/>
          </a:prstGeom>
          <a:solidFill>
            <a:srgbClr val="FBE9D3"/>
          </a:solidFill>
          <a:ln/>
        </p:spPr>
      </p:sp>
      <p:sp>
        <p:nvSpPr>
          <p:cNvPr id="20" name="Text 17"/>
          <p:cNvSpPr/>
          <p:nvPr/>
        </p:nvSpPr>
        <p:spPr>
          <a:xfrm>
            <a:off x="4596384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96384" y="31546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verba para LLM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596384" y="3493008"/>
            <a:ext cx="304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pronto, validação travada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96384" y="3767328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teste de 50 documentos consome créditos de IA. Sem orçamento, a métrica oficial (≥80%) ficou em espera.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41208" y="2286000"/>
            <a:ext cx="35448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2.4012941070407674e+304" dist="1.4407764642244596e+304" dir="Infinity">
              <a:srgbClr val="9AA7B4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141208" y="2286000"/>
            <a:ext cx="68580" cy="2286000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26" name="Shape 23"/>
          <p:cNvSpPr/>
          <p:nvPr/>
        </p:nvSpPr>
        <p:spPr>
          <a:xfrm>
            <a:off x="8415528" y="2514600"/>
            <a:ext cx="548640" cy="548640"/>
          </a:xfrm>
          <a:prstGeom prst="ellipse">
            <a:avLst/>
          </a:prstGeom>
          <a:solidFill>
            <a:srgbClr val="FBE9D3"/>
          </a:solidFill>
          <a:ln/>
        </p:spPr>
      </p:sp>
      <p:sp>
        <p:nvSpPr>
          <p:cNvPr id="27" name="Text 24"/>
          <p:cNvSpPr/>
          <p:nvPr/>
        </p:nvSpPr>
        <p:spPr>
          <a:xfrm>
            <a:off x="8415528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415528" y="31546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verba para deploy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8415528" y="3493008"/>
            <a:ext cx="304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pronto, público sem acesso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15528" y="3767328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Supabase Pro + domínio, não há URL pública — e sem isso, os testes com alunos reais não rodam.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4937760"/>
            <a:ext cx="11183112" cy="1463040"/>
          </a:xfrm>
          <a:prstGeom prst="roundRect">
            <a:avLst>
              <a:gd name="adj" fmla="val 3125"/>
            </a:avLst>
          </a:prstGeom>
          <a:solidFill>
            <a:srgbClr val="FBE9D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conhecidas — o que precisa ser endereçado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77240" y="548640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Logs &amp; observabilidade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painel central de erros, custo e latência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322064" y="548640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Segurança em produção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auditoria pós-deploy e ajuste com tráfego real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866888" y="548640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Infraestrutura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domínio (psp2.unb.br), DNS, certificado, backup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4.366135412293574e+41" dist="2.183067706146787e+41" dir="5.44195584e+49">
              <a:srgbClr val="7F8A99">
                <a:alpha val="5e+4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ARTIGO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ENEGEP 2026 — pronto e honesto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68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24231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Design Science Research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científico completo, com o protótipo funcional como artefato — o resultado principal do ciclo.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37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3000" y="32918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ABNT NBR 14724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seções, ~14 páginas, formatação acadêmica revisada e pronta para submissão.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3000" y="4160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sintetizado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do protótipo de ponta a ponta consolidados na Tabela 1 do artigo.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406640" y="2468880"/>
            <a:ext cx="4279392" cy="2606040"/>
          </a:xfrm>
          <a:prstGeom prst="roundRect">
            <a:avLst>
              <a:gd name="adj" fmla="val 2105"/>
            </a:avLst>
          </a:prstGeom>
          <a:solidFill>
            <a:srgbClr val="DDF0E3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06640" y="2468880"/>
            <a:ext cx="4279392" cy="2606040"/>
          </a:xfrm>
          <a:prstGeom prst="roundRect">
            <a:avLst>
              <a:gd name="adj" fmla="val 2105"/>
            </a:avLst>
          </a:prstGeom>
          <a:ln w="19050">
            <a:solidFill>
              <a:srgbClr val="0085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METODOLÓGICA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80960" y="31546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com usuários (SUS, TAM) é reportada como planejada, não executada.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80960" y="4160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fabricados — o que não foi medido não é apresentado como resultado.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vale mais que número inventado.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/>
          <a:effectLst>
            <a:outerShdw sx="100000" sy="100000" kx="0" ky="0" algn="bl" rotWithShape="0" blurRad="5.544991973612839e+45" dist="2.7724959868064195e+45" dir="3.2651735040000005e+54">
              <a:srgbClr val="7F8A99">
                <a:alpha val="5e+5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55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6459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32688"/>
            <a:ext cx="11183112" cy="16459"/>
          </a:xfrm>
          <a:prstGeom prst="rect">
            <a:avLst/>
          </a:prstGeom>
          <a:solidFill>
            <a:srgbClr val="E6E9EE"/>
          </a:solidFill>
          <a:ln/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6070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· EXPERIÊNCIA DO ALUNO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02920" y="1389888"/>
            <a:ext cx="11183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completa do aluno, ponta a ponta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697480"/>
            <a:ext cx="2487168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2" name="Shape 9"/>
          <p:cNvSpPr/>
          <p:nvPr/>
        </p:nvSpPr>
        <p:spPr>
          <a:xfrm>
            <a:off x="1426464" y="3081528"/>
            <a:ext cx="640080" cy="64008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3" name="Text 10"/>
          <p:cNvSpPr/>
          <p:nvPr/>
        </p:nvSpPr>
        <p:spPr>
          <a:xfrm>
            <a:off x="1426464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0080" y="3886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&amp; Onboarding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452628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magic link, identidade UnB, consentimento LGPD, onboarding em 4 passos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044952" y="3991356"/>
            <a:ext cx="301752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17" name="Shape 14"/>
          <p:cNvSpPr/>
          <p:nvPr/>
        </p:nvSpPr>
        <p:spPr>
          <a:xfrm>
            <a:off x="3401568" y="269748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01568" y="2697480"/>
            <a:ext cx="2487168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5112" y="3081528"/>
            <a:ext cx="640080" cy="64008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0" name="Text 17"/>
          <p:cNvSpPr/>
          <p:nvPr/>
        </p:nvSpPr>
        <p:spPr>
          <a:xfrm>
            <a:off x="4325112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538728" y="3886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acadêmico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584448" y="452628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visual de horários, importação do SIGAA, conexão do Drive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943600" y="3991356"/>
            <a:ext cx="301752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24" name="Shape 21"/>
          <p:cNvSpPr/>
          <p:nvPr/>
        </p:nvSpPr>
        <p:spPr>
          <a:xfrm>
            <a:off x="6300216" y="269748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0216" y="2697480"/>
            <a:ext cx="2487168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6" name="Shape 23"/>
          <p:cNvSpPr/>
          <p:nvPr/>
        </p:nvSpPr>
        <p:spPr>
          <a:xfrm>
            <a:off x="7223760" y="3081528"/>
            <a:ext cx="640080" cy="64008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7" name="Text 24"/>
          <p:cNvSpPr/>
          <p:nvPr/>
        </p:nvSpPr>
        <p:spPr>
          <a:xfrm>
            <a:off x="7223760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437376" y="3886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diário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83096" y="452628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real, gestão de documentos, transparência total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842248" y="3991356"/>
            <a:ext cx="301752" cy="292608"/>
          </a:xfrm>
          <a:prstGeom prst="rightArrow">
            <a:avLst/>
          </a:prstGeom>
          <a:solidFill>
            <a:srgbClr val="008542"/>
          </a:solidFill>
          <a:ln/>
        </p:spPr>
      </p:sp>
      <p:sp>
        <p:nvSpPr>
          <p:cNvPr id="31" name="Shape 28"/>
          <p:cNvSpPr/>
          <p:nvPr/>
        </p:nvSpPr>
        <p:spPr>
          <a:xfrm>
            <a:off x="9198864" y="269748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7B4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198864" y="2697480"/>
            <a:ext cx="2487168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33" name="Shape 30"/>
          <p:cNvSpPr/>
          <p:nvPr/>
        </p:nvSpPr>
        <p:spPr>
          <a:xfrm>
            <a:off x="10122408" y="3081528"/>
            <a:ext cx="640080" cy="64008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4" name="Text 31"/>
          <p:cNvSpPr/>
          <p:nvPr/>
        </p:nvSpPr>
        <p:spPr>
          <a:xfrm>
            <a:off x="10122408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9336024" y="3886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do cliente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381744" y="452628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prompts + system prompt portátil, feedback, direitos LGPD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primeira tela ao hábito de estudo — mapeada para guiar as próximas decisões de produto.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441448" cy="420624"/>
          </a:xfrm>
          <a:prstGeom prst="rect">
            <a:avLst/>
          </a:prstGeom>
          <a:solidFill>
            <a:srgbClr val="008542"/>
          </a:solidFill>
          <a:ln/>
          <a:effectLst>
            <a:outerShdw sx="100000" sy="100000" kx="0" ky="0" algn="bl" rotWithShape="0" blurRad="7.042139806488305e+49" dist="3.5210699032441527e+49" dir="1.9591041024000004e+59">
              <a:srgbClr val="7F8A99">
                <a:alpha val="5e+5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DISCIPLINA</a:t>
            </a:r>
            <a:endParaRPr lang="en-US" sz="1550" dirty="0"/>
          </a:p>
        </p:txBody>
      </p:sp>
      <p:pic>
        <p:nvPicPr>
          <p:cNvPr id="4" name="Image 0" descr="/tmp/psp2_pres/un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10896"/>
            <a:ext cx="5486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9728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unificado do estudante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193852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 único onde o aluno UnB centraliza tudo que importa pro semestre.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5409590" cy="2743200"/>
          </a:xfrm>
          <a:prstGeom prst="roundRect">
            <a:avLst>
              <a:gd name="adj" fmla="val 2333"/>
            </a:avLst>
          </a:prstGeom>
          <a:solidFill>
            <a:srgbClr val="0A2A4A"/>
          </a:solidFill>
          <a:ln w="12700">
            <a:solidFill>
              <a:srgbClr val="2A52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560320"/>
            <a:ext cx="5409590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743200"/>
            <a:ext cx="4864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LUGAR SÓ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5528" y="3346704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1" name="Text 8"/>
          <p:cNvSpPr/>
          <p:nvPr/>
        </p:nvSpPr>
        <p:spPr>
          <a:xfrm>
            <a:off x="1033272" y="325526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acadêmicas: universidade, fórum, Drive, e-mail e calendário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5528" y="3950208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3" name="Text 10"/>
          <p:cNvSpPr/>
          <p:nvPr/>
        </p:nvSpPr>
        <p:spPr>
          <a:xfrm>
            <a:off x="1033272" y="3858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entrada única: avisos, prazos e mensagens consolidados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" y="4553712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5" name="Text 12"/>
          <p:cNvSpPr/>
          <p:nvPr/>
        </p:nvSpPr>
        <p:spPr>
          <a:xfrm>
            <a:off x="1033272" y="44622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semestre: matérias, notas, grade e progresso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78270" y="2560320"/>
            <a:ext cx="5409590" cy="2743200"/>
          </a:xfrm>
          <a:prstGeom prst="roundRect">
            <a:avLst>
              <a:gd name="adj" fmla="val 2333"/>
            </a:avLst>
          </a:prstGeom>
          <a:solidFill>
            <a:srgbClr val="0A2A4A"/>
          </a:solidFill>
          <a:ln w="12700">
            <a:solidFill>
              <a:srgbClr val="2A52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78270" y="2560320"/>
            <a:ext cx="5409590" cy="54864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18" name="Text 15"/>
          <p:cNvSpPr/>
          <p:nvPr/>
        </p:nvSpPr>
        <p:spPr>
          <a:xfrm>
            <a:off x="6552590" y="2743200"/>
            <a:ext cx="4864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CONHECE O ALUNO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70878" y="3346704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0" name="Text 17"/>
          <p:cNvSpPr/>
          <p:nvPr/>
        </p:nvSpPr>
        <p:spPr>
          <a:xfrm>
            <a:off x="6808622" y="325526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estudo personalizado, sob medida pra carga do semestre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70878" y="3950208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2" name="Text 19"/>
          <p:cNvSpPr/>
          <p:nvPr/>
        </p:nvSpPr>
        <p:spPr>
          <a:xfrm>
            <a:off x="6808622" y="3858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retroativo: identifica lacunas de semestres passados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70878" y="4553712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4" name="Text 21"/>
          <p:cNvSpPr/>
          <p:nvPr/>
        </p:nvSpPr>
        <p:spPr>
          <a:xfrm>
            <a:off x="6808622" y="44622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pessoal por matéria, no nível do aluno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2920" y="55321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à frente: </a:t>
            </a:r>
            <a:pPr indent="0" marL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produtividade · acessibilidade · privacidade avançada · monetização sustentável.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abas abertas. Mais foco. Mais tempo pro aluno.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915668" cy="420624"/>
          </a:xfrm>
          <a:prstGeom prst="rect">
            <a:avLst/>
          </a:prstGeom>
          <a:solidFill>
            <a:srgbClr val="008542"/>
          </a:solidFill>
          <a:ln/>
          <a:effectLst>
            <a:outerShdw sx="100000" sy="100000" kx="0" ky="0" algn="bl" rotWithShape="0" blurRad="8.943517554240149e+53" dist="4.471758777120074e+53" dir="1.1754624614400003e+64">
              <a:srgbClr val="7F8A99">
                <a:alpha val="5e+6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19156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VAI</a:t>
            </a:r>
            <a:endParaRPr lang="en-US" sz="1550" dirty="0"/>
          </a:p>
        </p:txBody>
      </p:sp>
      <p:pic>
        <p:nvPicPr>
          <p:cNvPr id="4" name="Image 0" descr="/tmp/psp2_pres/un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10896"/>
            <a:ext cx="5486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9728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seguimos — e por que vira PIBIC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193852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disciplina à pesquisa científica continuada (ProIC/UnB).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5409590" cy="2743200"/>
          </a:xfrm>
          <a:prstGeom prst="roundRect">
            <a:avLst>
              <a:gd name="adj" fmla="val 2333"/>
            </a:avLst>
          </a:prstGeom>
          <a:solidFill>
            <a:srgbClr val="0A2A4A"/>
          </a:solidFill>
          <a:ln w="12700">
            <a:solidFill>
              <a:srgbClr val="2A52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560320"/>
            <a:ext cx="5409590" cy="54864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743200"/>
            <a:ext cx="4864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· DIREÇÃO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5528" y="3328416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1" name="Text 8"/>
          <p:cNvSpPr/>
          <p:nvPr/>
        </p:nvSpPr>
        <p:spPr>
          <a:xfrm>
            <a:off x="1033272" y="3255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validação técnica (50 docs) → números reais pro artigo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5528" y="3858768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3" name="Text 10"/>
          <p:cNvSpPr/>
          <p:nvPr/>
        </p:nvSpPr>
        <p:spPr>
          <a:xfrm>
            <a:off x="1033272" y="37856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ambiente público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95528" y="4389120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5" name="Text 12"/>
          <p:cNvSpPr/>
          <p:nvPr/>
        </p:nvSpPr>
        <p:spPr>
          <a:xfrm>
            <a:off x="1033272" y="43159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 acompanhamento de usuários-teste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95528" y="4919472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17" name="Text 14"/>
          <p:cNvSpPr/>
          <p:nvPr/>
        </p:nvSpPr>
        <p:spPr>
          <a:xfrm>
            <a:off x="1033272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processo em PIBIC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78270" y="2560320"/>
            <a:ext cx="5409590" cy="2743200"/>
          </a:xfrm>
          <a:prstGeom prst="roundRect">
            <a:avLst>
              <a:gd name="adj" fmla="val 2333"/>
            </a:avLst>
          </a:prstGeom>
          <a:solidFill>
            <a:srgbClr val="0A2A4A"/>
          </a:solidFill>
          <a:ln w="12700">
            <a:solidFill>
              <a:srgbClr val="2A527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78270" y="2560320"/>
            <a:ext cx="5409590" cy="54864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20" name="Text 17"/>
          <p:cNvSpPr/>
          <p:nvPr/>
        </p:nvSpPr>
        <p:spPr>
          <a:xfrm>
            <a:off x="6552590" y="2743200"/>
            <a:ext cx="4864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· PRÓXIMAS AÇÕES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570878" y="3328416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2" name="Text 19"/>
          <p:cNvSpPr/>
          <p:nvPr/>
        </p:nvSpPr>
        <p:spPr>
          <a:xfrm>
            <a:off x="6808622" y="3255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 em paralelo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70878" y="3858768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4" name="Text 21"/>
          <p:cNvSpPr/>
          <p:nvPr/>
        </p:nvSpPr>
        <p:spPr>
          <a:xfrm>
            <a:off x="6808622" y="37856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direção: novas features, testes e análise de dados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70878" y="4389120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6" name="Text 23"/>
          <p:cNvSpPr/>
          <p:nvPr/>
        </p:nvSpPr>
        <p:spPr>
          <a:xfrm>
            <a:off x="6808622" y="43159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contínuo: segurança, logs e banco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70878" y="4919472"/>
            <a:ext cx="118872" cy="118872"/>
          </a:xfrm>
          <a:prstGeom prst="ellipse">
            <a:avLst/>
          </a:prstGeom>
          <a:solidFill>
            <a:srgbClr val="008542"/>
          </a:solidFill>
          <a:ln/>
        </p:spPr>
      </p:sp>
      <p:sp>
        <p:nvSpPr>
          <p:cNvPr id="28" name="Text 25"/>
          <p:cNvSpPr/>
          <p:nvPr/>
        </p:nvSpPr>
        <p:spPr>
          <a:xfrm>
            <a:off x="6808622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edital: orientador(a), projeto + plano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disciplina acaba; a pesquisa começa.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1183112" y="6437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PSP2 — Apresentação Final</dc:title>
  <dc:subject>PptxGenJS Presentation</dc:subject>
  <dc:creator>Equipe PSP2 — UnB</dc:creator>
  <cp:lastModifiedBy>Equipe PSP2 — UnB</cp:lastModifiedBy>
  <cp:revision>1</cp:revision>
  <dcterms:created xsi:type="dcterms:W3CDTF">2026-06-25T21:49:21Z</dcterms:created>
  <dcterms:modified xsi:type="dcterms:W3CDTF">2026-06-25T21:49:21Z</dcterms:modified>
</cp:coreProperties>
</file>