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777240"/>
            <a:ext cx="1371600" cy="12161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2860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PSP2 — IA para Universitários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914400" y="3200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Final — Fechamento do ciclo (Sprints 1–5)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4572000" y="3913632"/>
            <a:ext cx="3044952" cy="0"/>
          </a:xfrm>
          <a:prstGeom prst="line">
            <a:avLst/>
          </a:prstGeom>
          <a:noFill/>
          <a:ln w="38100">
            <a:solidFill>
              <a:srgbClr val="0085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416052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Murahovschi  ·  Pedro Henrique  ·  Isaac Abdala  ·  Guilherme Cauã  ·  Luis Felipe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62636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de Brasília  ·  Engenharia de Produção  ·  2026.1  ·  25/06/2026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·  A DOR DO ALUNO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já usa IA — mas sem contexto e sem organização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dores que medimos no público-alvo (alunos da UnB)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788920"/>
            <a:ext cx="2612898" cy="3017520"/>
          </a:xfrm>
          <a:prstGeom prst="rect">
            <a:avLst/>
          </a:prstGeom>
          <a:solidFill>
            <a:srgbClr val="F6F8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788920"/>
            <a:ext cx="261289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337560"/>
            <a:ext cx="24300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594360" y="4572000"/>
            <a:ext cx="23385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 IA genérica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contexto acadêmico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344418" y="2788920"/>
            <a:ext cx="2612898" cy="3017520"/>
          </a:xfrm>
          <a:prstGeom prst="rect">
            <a:avLst/>
          </a:prstGeom>
          <a:solidFill>
            <a:srgbClr val="F6F8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44418" y="2788920"/>
            <a:ext cx="261289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35858" y="3337560"/>
            <a:ext cx="24300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5400" dirty="0"/>
          </a:p>
        </p:txBody>
      </p:sp>
      <p:sp>
        <p:nvSpPr>
          <p:cNvPr id="16" name="Text 13"/>
          <p:cNvSpPr/>
          <p:nvPr/>
        </p:nvSpPr>
        <p:spPr>
          <a:xfrm>
            <a:off x="3481578" y="4572000"/>
            <a:ext cx="23385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disciplinas/semestre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múltiplos formatos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231636" y="2788920"/>
            <a:ext cx="2612898" cy="3017520"/>
          </a:xfrm>
          <a:prstGeom prst="rect">
            <a:avLst/>
          </a:prstGeom>
          <a:solidFill>
            <a:srgbClr val="F6F8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1636" y="2788920"/>
            <a:ext cx="261289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3076" y="3337560"/>
            <a:ext cx="24300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3–5h</a:t>
            </a:r>
            <a:endParaRPr lang="en-US" sz="5400" dirty="0"/>
          </a:p>
        </p:txBody>
      </p:sp>
      <p:sp>
        <p:nvSpPr>
          <p:cNvPr id="20" name="Text 17"/>
          <p:cNvSpPr/>
          <p:nvPr/>
        </p:nvSpPr>
        <p:spPr>
          <a:xfrm>
            <a:off x="6368796" y="4572000"/>
            <a:ext cx="23385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 só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organizando material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118854" y="2788920"/>
            <a:ext cx="2612898" cy="3017520"/>
          </a:xfrm>
          <a:prstGeom prst="rect">
            <a:avLst/>
          </a:prstGeom>
          <a:solidFill>
            <a:srgbClr val="F6F8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18854" y="2788920"/>
            <a:ext cx="261289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210294" y="3337560"/>
            <a:ext cx="243001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9256014" y="4572000"/>
            <a:ext cx="233857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virar material de estudo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perda + retrabalho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IA — é falta de contexto e de organização.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  ·  O QUE QUEREMOS RESOLVER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hub que organiza o estudo do aluno UnB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2468880"/>
            <a:ext cx="6217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recebe material solto — PDFs, slides, fotos, DOCX — em cinco sistemas diferentes. </a:t>
            </a:r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perde tempo organizando em vez de estudar.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57200" y="38862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recebe de volta: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4517136"/>
            <a:ext cx="128016" cy="128016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389120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resumo confiável de cada documento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02920" y="4901184"/>
            <a:ext cx="128016" cy="128016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773168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nomeado e organizado por matéria, automaticamente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2920" y="5285232"/>
            <a:ext cx="128016" cy="128016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5157216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biblioteca de prompts prontos pra qualquer IA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02920" y="5669280"/>
            <a:ext cx="128016" cy="128016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541264"/>
            <a:ext cx="5897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Drive do aluno como espelho do estudo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548640" cy="0"/>
          </a:xfrm>
          <a:prstGeom prst="line">
            <a:avLst/>
          </a:prstGeom>
          <a:noFill/>
          <a:ln w="25400">
            <a:solidFill>
              <a:srgbClr val="0085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62179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tempo organizando. Mais tempo aprendendo.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132320" y="246888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F6F8F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0" y="26060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em alto nível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06640" y="3108960"/>
            <a:ext cx="502920" cy="50292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06640" y="3108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046720" y="30632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envia
</a:t>
            </a:r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slides, fotos, DOCX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589520" y="3657600"/>
            <a:ext cx="137160" cy="164592"/>
          </a:xfrm>
          <a:prstGeom prst="down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06640" y="3886200"/>
            <a:ext cx="502920" cy="50292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0664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804672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entende
</a:t>
            </a:r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matéria e conteúdo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89520" y="4434840"/>
            <a:ext cx="137160" cy="164592"/>
          </a:xfrm>
          <a:prstGeom prst="down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06640" y="4663440"/>
            <a:ext cx="502920" cy="50292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4066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046720" y="46177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condensa
</a:t>
            </a:r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 e gera a revisão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589520" y="5212080"/>
            <a:ext cx="137160" cy="164592"/>
          </a:xfrm>
          <a:prstGeom prst="down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5440680"/>
            <a:ext cx="502920" cy="50292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406640" y="5440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8046720" y="53949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usa
</a:t>
            </a:r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+ prompts personalizados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 ·  PIPELINE DE PONTA A PONTA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produto, em 5 passos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documento bruto ao material de estudo personalizado — em menos de 60s por documento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788920"/>
            <a:ext cx="196230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788920"/>
            <a:ext cx="1962302" cy="54864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91463" y="3081528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91463" y="308152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3657600"/>
            <a:ext cx="17794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4069080"/>
            <a:ext cx="177942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brutos: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DOCX, PPTX,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imagens, MD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456078" y="4014216"/>
            <a:ext cx="292608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85262" y="2788920"/>
            <a:ext cx="196230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85262" y="2788920"/>
            <a:ext cx="1962302" cy="54864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19526" y="3081528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19526" y="308152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876702" y="3657600"/>
            <a:ext cx="17794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2876702" y="4069080"/>
            <a:ext cx="177942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identifica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 e tipo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conteúdo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784141" y="4014216"/>
            <a:ext cx="292608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13325" y="2788920"/>
            <a:ext cx="196230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13325" y="2788920"/>
            <a:ext cx="1962302" cy="54864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847588" y="3081528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847588" y="308152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204765" y="3657600"/>
            <a:ext cx="17794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204765" y="4069080"/>
            <a:ext cx="177942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Sintetiza e comprime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alterar fórmulas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tabelas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112203" y="4014216"/>
            <a:ext cx="292608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41387" y="2788920"/>
            <a:ext cx="196230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41387" y="2788920"/>
            <a:ext cx="1962302" cy="54864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5650" y="3081528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175650" y="308152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532827" y="3657600"/>
            <a:ext cx="17794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532827" y="4069080"/>
            <a:ext cx="177942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Renomeia e organiza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Google Drive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matéria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440266" y="4014216"/>
            <a:ext cx="292608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769450" y="2788920"/>
            <a:ext cx="196230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769450" y="2788920"/>
            <a:ext cx="1962302" cy="54864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503713" y="3081528"/>
            <a:ext cx="493776" cy="493776"/>
          </a:xfrm>
          <a:prstGeom prst="ellipse">
            <a:avLst/>
          </a:prstGeom>
          <a:solidFill>
            <a:srgbClr val="0085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503713" y="308152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1" name="Text 38"/>
          <p:cNvSpPr/>
          <p:nvPr/>
        </p:nvSpPr>
        <p:spPr>
          <a:xfrm>
            <a:off x="9860890" y="3657600"/>
            <a:ext cx="17794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9860890" y="4069080"/>
            <a:ext cx="177942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personalizado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prompts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 formatos suportados   ·   não altera fórmulas/dados   ·   nomenclatura padronizada [MATÉRIA] - [TIPO] - [DESCRIÇÃO]   ·   &lt; 60s por documento</a:t>
            </a:r>
            <a:endParaRPr lang="en-US" sz="1250" dirty="0"/>
          </a:p>
        </p:txBody>
      </p:sp>
      <p:sp>
        <p:nvSpPr>
          <p:cNvPr id="45" name="Text 42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REPLANEJAMENTO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PLANO INICIAL AO PLANO REAL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passou a refletir o que realmente foi feito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backlog inicial (4 sprints) foi reformulada retroativamente em 5 sprints — deadline 25/06 mantido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788920"/>
            <a:ext cx="4983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2788920"/>
            <a:ext cx="4983480" cy="50292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78892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 ·  4 SPRINTS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52044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Fundação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40233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Inteligência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452628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Integração + Testes com usuários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7240" y="502920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Feedback + Artigo + Apresentação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23560" y="3977640"/>
            <a:ext cx="640080" cy="457200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46520" y="2788920"/>
            <a:ext cx="4983480" cy="2834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54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46520" y="2788920"/>
            <a:ext cx="4983480" cy="5029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29400" y="278892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 ·  5 SPRINTS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3474720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Fundação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766560" y="3895344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Inteligência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766560" y="4315968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Hardening completo do sistema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6766560" y="473659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· Elaboração e finalização do artigo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766560" y="5157216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· Jornada do cliente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na prática (segurança, LGPD, jornada). Agora plano e produto contam a mesma história.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COMPLETO EM 5 SPRINTS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 produto — 19 histórias, 69 tarefas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457200" y="2697480"/>
            <a:ext cx="2123237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2752344"/>
            <a:ext cx="190378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3026664"/>
            <a:ext cx="190378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337560"/>
            <a:ext cx="2123237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3566160"/>
            <a:ext cx="1903781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H1–H4 · 21 tarefas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937760"/>
            <a:ext cx="1903781" cy="365760"/>
          </a:xfrm>
          <a:prstGeom prst="roundRect">
            <a:avLst>
              <a:gd name="adj" fmla="val 12500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937760"/>
            <a:ext cx="19037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745029" y="2697480"/>
            <a:ext cx="2123237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854757" y="2752344"/>
            <a:ext cx="190378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854757" y="3026664"/>
            <a:ext cx="190378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745029" y="3337560"/>
            <a:ext cx="2123237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4757" y="3566160"/>
            <a:ext cx="1903781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H5–H7 · 13 tarefas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854757" y="4937760"/>
            <a:ext cx="1903781" cy="365760"/>
          </a:xfrm>
          <a:prstGeom prst="roundRect">
            <a:avLst>
              <a:gd name="adj" fmla="val 12500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54757" y="4937760"/>
            <a:ext cx="19037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32858" y="2697480"/>
            <a:ext cx="2123237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42586" y="2752344"/>
            <a:ext cx="190378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142586" y="3026664"/>
            <a:ext cx="190378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032858" y="3337560"/>
            <a:ext cx="2123237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142586" y="3566160"/>
            <a:ext cx="1903781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H13–H18 · 18 tarefas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142586" y="4937760"/>
            <a:ext cx="1903781" cy="365760"/>
          </a:xfrm>
          <a:prstGeom prst="roundRect">
            <a:avLst>
              <a:gd name="adj" fmla="val 12500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2586" y="4937760"/>
            <a:ext cx="19037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320686" y="2697480"/>
            <a:ext cx="2123237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30414" y="2752344"/>
            <a:ext cx="190378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7430414" y="3026664"/>
            <a:ext cx="190378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320686" y="3337560"/>
            <a:ext cx="2123237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430414" y="3566160"/>
            <a:ext cx="1903781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H19–H20 · 6 tarefas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7430414" y="4937760"/>
            <a:ext cx="1903781" cy="365760"/>
          </a:xfrm>
          <a:prstGeom prst="roundRect">
            <a:avLst>
              <a:gd name="adj" fmla="val 12500"/>
            </a:avLst>
          </a:prstGeom>
          <a:solidFill>
            <a:srgbClr val="FBE7CE"/>
          </a:solidFill>
          <a:ln w="12700">
            <a:solidFill>
              <a:srgbClr val="FBE7C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430414" y="4937760"/>
            <a:ext cx="19037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FINALIZAÇÃO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9608515" y="2697480"/>
            <a:ext cx="2123237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718243" y="2752344"/>
            <a:ext cx="190378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9718243" y="3026664"/>
            <a:ext cx="190378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9608515" y="3337560"/>
            <a:ext cx="2123237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718243" y="3566160"/>
            <a:ext cx="1903781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H21–H24 · 11 tarefas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718243" y="4937760"/>
            <a:ext cx="1903781" cy="365760"/>
          </a:xfrm>
          <a:prstGeom prst="roundRect">
            <a:avLst>
              <a:gd name="adj" fmla="val 12500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718243" y="4937760"/>
            <a:ext cx="19037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457200" y="5715000"/>
            <a:ext cx="11274552" cy="411480"/>
          </a:xfrm>
          <a:prstGeom prst="rect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57200" y="571500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</a:t>
            </a:r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  ·   </a:t>
            </a:r>
            <a:pPr algn="ctr" indent="0" marL="0">
              <a:buNone/>
            </a:pPr>
            <a:r>
              <a:rPr lang="en-US" sz="15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</a:t>
            </a:r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  ·   </a:t>
            </a:r>
            <a:pPr algn="ctr" indent="0" marL="0">
              <a:buNone/>
            </a:pPr>
            <a:r>
              <a:rPr lang="en-US" sz="15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  ·   </a:t>
            </a:r>
            <a:pPr algn="ctr" indent="0" marL="0">
              <a:buNone/>
            </a:pPr>
            <a:r>
              <a:rPr lang="en-US" sz="15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5 </a:t>
            </a:r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concluídas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57200" y="6217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atualizadas: docs de tarefa T35–T69 · relatórios por sprint · relatório geral · artigo ENEGEP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COMPLETO  ·  DO COMEÇO AO FIM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sprints, lado a lado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457200" y="2697480"/>
            <a:ext cx="2020824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2752344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66928" y="3026664"/>
            <a:ext cx="1801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337560"/>
            <a:ext cx="202082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85216" y="3584448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8096" y="352044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&amp; stack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85216" y="4151376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4087368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upload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85216" y="4718304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8096" y="4654296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drag-and-drop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5532120"/>
            <a:ext cx="1801368" cy="347472"/>
          </a:xfrm>
          <a:prstGeom prst="roundRect">
            <a:avLst>
              <a:gd name="adj" fmla="val 13158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5532120"/>
            <a:ext cx="1801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496312" y="4215384"/>
            <a:ext cx="237744" cy="256032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770632" y="2697480"/>
            <a:ext cx="2020824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880360" y="2752344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2880360" y="3026664"/>
            <a:ext cx="1801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2770632" y="3337560"/>
            <a:ext cx="202082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898648" y="3584448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081528" y="352044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LLM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898648" y="4151376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081528" y="4087368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Drive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2898648" y="4718304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81528" y="4654296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+ biblioteca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880360" y="5532120"/>
            <a:ext cx="1801368" cy="347472"/>
          </a:xfrm>
          <a:prstGeom prst="roundRect">
            <a:avLst>
              <a:gd name="adj" fmla="val 13158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880360" y="5532120"/>
            <a:ext cx="1801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809744" y="4215384"/>
            <a:ext cx="237744" cy="256032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84064" y="2697480"/>
            <a:ext cx="2020824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193792" y="2752344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193792" y="3026664"/>
            <a:ext cx="1801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084064" y="3337560"/>
            <a:ext cx="202082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212080" y="3584448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394960" y="352044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&amp; RLS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5212080" y="4151376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394960" y="4087368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resiliente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212080" y="4718304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394960" y="4654296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Observabilidade, a11y, CI/CD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5193792" y="5532120"/>
            <a:ext cx="1801368" cy="347472"/>
          </a:xfrm>
          <a:prstGeom prst="roundRect">
            <a:avLst>
              <a:gd name="adj" fmla="val 13158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193792" y="5532120"/>
            <a:ext cx="1801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123176" y="4215384"/>
            <a:ext cx="237744" cy="256032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397496" y="2697480"/>
            <a:ext cx="2020824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507224" y="2752344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7507224" y="3026664"/>
            <a:ext cx="1801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7397496" y="3337560"/>
            <a:ext cx="202082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25512" y="3584448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708392" y="352044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ABNT (6 seções)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7525512" y="4151376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708392" y="4087368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DSR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7525512" y="4718304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08392" y="4654296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Finalização &amp; submissão</a:t>
            </a:r>
            <a:endParaRPr lang="en-US" sz="1150" dirty="0"/>
          </a:p>
        </p:txBody>
      </p:sp>
      <p:sp>
        <p:nvSpPr>
          <p:cNvPr id="57" name="Shape 54"/>
          <p:cNvSpPr/>
          <p:nvPr/>
        </p:nvSpPr>
        <p:spPr>
          <a:xfrm>
            <a:off x="7507224" y="5532120"/>
            <a:ext cx="1801368" cy="347472"/>
          </a:xfrm>
          <a:prstGeom prst="roundRect">
            <a:avLst>
              <a:gd name="adj" fmla="val 13158"/>
            </a:avLst>
          </a:prstGeom>
          <a:solidFill>
            <a:srgbClr val="FBE7CE"/>
          </a:solidFill>
          <a:ln w="12700">
            <a:solidFill>
              <a:srgbClr val="FBE7C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507224" y="5532120"/>
            <a:ext cx="1801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FINALIZAÇÃO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9436608" y="4215384"/>
            <a:ext cx="237744" cy="256032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710928" y="2697480"/>
            <a:ext cx="2020824" cy="64008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820656" y="2752344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250" dirty="0"/>
          </a:p>
        </p:txBody>
      </p:sp>
      <p:sp>
        <p:nvSpPr>
          <p:cNvPr id="62" name="Text 59"/>
          <p:cNvSpPr/>
          <p:nvPr/>
        </p:nvSpPr>
        <p:spPr>
          <a:xfrm>
            <a:off x="9820656" y="3026664"/>
            <a:ext cx="1801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9710928" y="3337560"/>
            <a:ext cx="2020824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838944" y="3584448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0021824" y="3520440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&amp; LGPD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9838944" y="4151376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021824" y="4087368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+ SIGAA + Drive</a:t>
            </a:r>
            <a:endParaRPr lang="en-US" sz="1150" dirty="0"/>
          </a:p>
        </p:txBody>
      </p:sp>
      <p:sp>
        <p:nvSpPr>
          <p:cNvPr id="68" name="Shape 65"/>
          <p:cNvSpPr/>
          <p:nvPr/>
        </p:nvSpPr>
        <p:spPr>
          <a:xfrm>
            <a:off x="9838944" y="4718304"/>
            <a:ext cx="91440" cy="9144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10021824" y="4654296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9820656" y="5532120"/>
            <a:ext cx="1801368" cy="347472"/>
          </a:xfrm>
          <a:prstGeom prst="roundRect">
            <a:avLst>
              <a:gd name="adj" fmla="val 13158"/>
            </a:avLst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820656" y="5532120"/>
            <a:ext cx="1801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457200" y="617220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etapas, uma linha contínua — da fundação técnica à entrega acadêmica.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 ·  ROBUSTEZ E SEGURANÇA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passou a funcionar de verdade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02920" y="2468880"/>
            <a:ext cx="411480" cy="411480"/>
          </a:xfrm>
          <a:prstGeom prst="ellipse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468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24688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autenticação   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segura, sessão e proteção de rotas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02920" y="3127248"/>
            <a:ext cx="411480" cy="411480"/>
          </a:xfrm>
          <a:prstGeom prst="ellipse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31272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97280" y="312724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Google Drive   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OAuth, refresh de token, upload idempotente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02920" y="3785616"/>
            <a:ext cx="411480" cy="411480"/>
          </a:xfrm>
          <a:prstGeom prst="ellipse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378561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97280" y="378561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Estruturação de pastas   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automática por semestre e matéria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02920" y="4443984"/>
            <a:ext cx="411480" cy="411480"/>
          </a:xfrm>
          <a:prstGeom prst="ellipse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444398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097280" y="444398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ponta-a-ponta   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upload à exportação, sem passo manual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02920" y="5102352"/>
            <a:ext cx="411480" cy="411480"/>
          </a:xfrm>
          <a:prstGeom prst="ellipse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5102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097280" y="510235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sólido   </a:t>
            </a:r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anti-escalada, tokens fora do navegador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498080" y="2468880"/>
            <a:ext cx="4206240" cy="3108960"/>
          </a:xfrm>
          <a:prstGeom prst="roundRect">
            <a:avLst>
              <a:gd name="adj" fmla="val 2941"/>
            </a:avLst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7240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Guiado por auditoria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772400" y="31089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26" name="Text 23"/>
          <p:cNvSpPr/>
          <p:nvPr/>
        </p:nvSpPr>
        <p:spPr>
          <a:xfrm>
            <a:off x="8869680" y="32461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rodadas de auditoria de segurança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772400" y="42062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</a:t>
            </a:r>
            <a:pPr indent="0" marL="0">
              <a:buNone/>
            </a:pPr>
            <a:r>
              <a:rPr lang="en-US" sz="14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  ·   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resolvido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7772400" y="4800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Escalada de admin — detectada e corrigida.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5897880"/>
            <a:ext cx="11274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mais: correção de bugs e falhas de segurança · otimizações · inovações (calendário, cronograma, biblioteca de prompts). De peças soltas a um fluxo sólido.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292608"/>
            <a:ext cx="50292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5029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40080" y="64008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41248" y="5029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109728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do produto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rodando — do upload ao flashcard gerado por IA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57200" y="2468880"/>
            <a:ext cx="2743200" cy="0"/>
          </a:xfrm>
          <a:prstGeom prst="line">
            <a:avLst/>
          </a:prstGeom>
          <a:noFill/>
          <a:ln w="38100">
            <a:solidFill>
              <a:srgbClr val="00854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2880360"/>
            <a:ext cx="502920" cy="50292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43000" y="2834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 dashboard
</a:t>
            </a:r>
            <a:pPr indent="0" marL="0">
              <a:buNone/>
            </a:pPr>
            <a:r>
              <a:rPr lang="en-US" sz="13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segura, visão geral em tempo real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57200" y="3931920"/>
            <a:ext cx="502920" cy="50292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43000" y="38862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um documento
</a:t>
            </a:r>
            <a:pPr indent="0" marL="0">
              <a:buNone/>
            </a:pPr>
            <a:r>
              <a:rPr lang="en-US" sz="13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o status processando ao vivo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57200" y="4983480"/>
            <a:ext cx="502920" cy="50292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43000" y="49377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gerado
</a:t>
            </a:r>
            <a:pPr indent="0" marL="0">
              <a:buNone/>
            </a:pPr>
            <a:r>
              <a:rPr lang="en-US" sz="13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do markdown, fórmulas preservadas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63640" y="2880360"/>
            <a:ext cx="502920" cy="50292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 no Drive
</a:t>
            </a:r>
            <a:pPr indent="0" marL="0">
              <a:buNone/>
            </a:pPr>
            <a:r>
              <a:rPr lang="en-US" sz="13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Pastas automáticas por matéria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263640" y="3931920"/>
            <a:ext cx="502920" cy="50292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63640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949440" y="38862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Flashcards por IA
</a:t>
            </a:r>
            <a:pPr indent="0" marL="0">
              <a:buNone/>
            </a:pPr>
            <a:r>
              <a:rPr lang="en-US" sz="13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com LaTeX + estudo em repetição espaçada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63640" y="4983480"/>
            <a:ext cx="502920" cy="502920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63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949440" y="49377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personalizados
</a:t>
            </a:r>
            <a:pPr indent="0" marL="0">
              <a:buNone/>
            </a:pPr>
            <a:r>
              <a:rPr lang="en-US" sz="13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+ biblioteca pronta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457200" y="635508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vez de só falar — vou mostrar.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DO ESCOPO  ·  O PRODUTO É MAIOR QUE O PLANEJADO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cresceu durante a execução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36057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2514600"/>
            <a:ext cx="73152" cy="14173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651760"/>
            <a:ext cx="3240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 do aluno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3081528"/>
            <a:ext cx="31943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 UnB, onboarding, busca/filtros, arquivar/excluir, tema escuro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91584" y="2514600"/>
            <a:ext cx="36057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1584" y="2514600"/>
            <a:ext cx="73152" cy="14173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20184" y="2651760"/>
            <a:ext cx="3240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0184" y="3081528"/>
            <a:ext cx="31943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atividade, métricas pessoais, painel administrativo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125968" y="2514600"/>
            <a:ext cx="36057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25968" y="2514600"/>
            <a:ext cx="73152" cy="14173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54568" y="2651760"/>
            <a:ext cx="3240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&amp; privacidade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354568" y="3081528"/>
            <a:ext cx="31943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de acesso, sandbox anti-injeção, LGPD completa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" y="4160520"/>
            <a:ext cx="36057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4160520"/>
            <a:ext cx="73152" cy="14173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297680"/>
            <a:ext cx="3240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do pipeline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85800" y="4727448"/>
            <a:ext cx="31943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em 4 camadas (LLM-as-judge), import SIGAA, flashcards por IA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1584" y="4160520"/>
            <a:ext cx="36057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91584" y="4160520"/>
            <a:ext cx="73152" cy="14173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20184" y="4297680"/>
            <a:ext cx="3240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4520184" y="4727448"/>
            <a:ext cx="31943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sem PII, tempo real, CI/CD com gate, auditoria multi-frente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125968" y="4160520"/>
            <a:ext cx="36057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968" y="4160520"/>
            <a:ext cx="73152" cy="1417320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54568" y="4297680"/>
            <a:ext cx="3240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354568" y="4727448"/>
            <a:ext cx="319430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 modelo sem deploy, multi-provider de IA, biblioteca de prompts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57200" y="6126480"/>
            <a:ext cx="11274552" cy="411480"/>
          </a:xfrm>
          <a:prstGeom prst="rect">
            <a:avLst/>
          </a:prstGeom>
          <a:solidFill>
            <a:srgbClr val="D4F0DD"/>
          </a:solidFill>
          <a:ln w="12700">
            <a:solidFill>
              <a:srgbClr val="D4F0D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612648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cresceu — e o plano acompanhou. </a:t>
            </a:r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25 entregas fora do backlog original.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OBSTÁCULOS  ·  O QUE TRAVOU E O QUE FALTA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travamos — com honestidade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357530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2331720"/>
            <a:ext cx="91440" cy="2377440"/>
          </a:xfrm>
          <a:prstGeom prst="rect">
            <a:avLst/>
          </a:prstGeom>
          <a:solidFill>
            <a:srgbClr val="B85C00"/>
          </a:solidFill>
          <a:ln w="12700">
            <a:solidFill>
              <a:srgbClr val="B85C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2560320"/>
            <a:ext cx="548640" cy="548640"/>
          </a:xfrm>
          <a:prstGeom prst="ellipse">
            <a:avLst/>
          </a:prstGeom>
          <a:solidFill>
            <a:srgbClr val="FBE7CE"/>
          </a:solidFill>
          <a:ln w="12700">
            <a:solidFill>
              <a:srgbClr val="FBE7C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31520" y="32004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rígida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" y="3538728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Resolvida pelo replanejamento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813048"/>
            <a:ext cx="302666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Fechada cedo demais; o que o produto pedia virava "extra". O plano em 5 sprints corrigiu isso.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06824" y="2331720"/>
            <a:ext cx="357530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06824" y="2331720"/>
            <a:ext cx="91440" cy="2377440"/>
          </a:xfrm>
          <a:prstGeom prst="rect">
            <a:avLst/>
          </a:prstGeom>
          <a:solidFill>
            <a:srgbClr val="B85C00"/>
          </a:solidFill>
          <a:ln w="12700">
            <a:solidFill>
              <a:srgbClr val="B85C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81144" y="2560320"/>
            <a:ext cx="548640" cy="548640"/>
          </a:xfrm>
          <a:prstGeom prst="ellipse">
            <a:avLst/>
          </a:prstGeom>
          <a:solidFill>
            <a:srgbClr val="FBE7CE"/>
          </a:solidFill>
          <a:ln w="12700">
            <a:solidFill>
              <a:srgbClr val="FBE7C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81144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581144" y="32004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verba para LLM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4581144" y="3538728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pronto, validação travada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81144" y="3813048"/>
            <a:ext cx="302666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o teste de 50 documentos consome créditos de IA. Sem orçamento, a métrica oficial (≥80%) ficou em espera.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56448" y="2331720"/>
            <a:ext cx="357530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56448" y="2331720"/>
            <a:ext cx="91440" cy="2377440"/>
          </a:xfrm>
          <a:prstGeom prst="rect">
            <a:avLst/>
          </a:prstGeom>
          <a:solidFill>
            <a:srgbClr val="B85C00"/>
          </a:solidFill>
          <a:ln w="12700">
            <a:solidFill>
              <a:srgbClr val="B85C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30768" y="2560320"/>
            <a:ext cx="548640" cy="548640"/>
          </a:xfrm>
          <a:prstGeom prst="ellipse">
            <a:avLst/>
          </a:prstGeom>
          <a:solidFill>
            <a:srgbClr val="FBE7CE"/>
          </a:solidFill>
          <a:ln w="12700">
            <a:solidFill>
              <a:srgbClr val="FBE7C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30768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430768" y="32004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verba para deploy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430768" y="3538728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pronto, público sem acesso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30768" y="3813048"/>
            <a:ext cx="302666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Supabase Pro + domínio, não há URL pública — e sem isso, os testes com alunos reais não rodam.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57200" y="4983480"/>
            <a:ext cx="11274552" cy="1463040"/>
          </a:xfrm>
          <a:prstGeom prst="rect">
            <a:avLst/>
          </a:prstGeom>
          <a:solidFill>
            <a:srgbClr val="FBE7CE"/>
          </a:solidFill>
          <a:ln w="12700">
            <a:solidFill>
              <a:srgbClr val="FBE7C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" y="51206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Lacunas conhecidas — o que precisa ser endereçado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85800" y="5532120"/>
            <a:ext cx="32705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Logs &amp; observabilidade
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painel central de erros, custo e latência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4139184" y="5532120"/>
            <a:ext cx="32705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Segurança em produção
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auditoria pós-deploy e ajuste com tráfego real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7592568" y="5532120"/>
            <a:ext cx="327050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Infraestrutura
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domínio (psp2.unb.br), DNS, certificado, backup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 ·  ARTIGO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ENEGEP 2026 — pronto e honesto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02920" y="2468880"/>
            <a:ext cx="411480" cy="4114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468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242316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Design Science Research
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científico completo, com o protótipo funcional como artefato — o resultado principal do ciclo.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02920" y="3337560"/>
            <a:ext cx="411480" cy="4114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3337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97280" y="329184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 ABNT NBR 14724
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seções, ~14 páginas, formatação acadêmica revisada e pronta para submissão.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02920" y="4206240"/>
            <a:ext cx="411480" cy="4114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97280" y="4160520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 sintetizado
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do protótipo de ponta a ponta consolidados na Tabela 1 do artigo.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406640" y="2468880"/>
            <a:ext cx="4297680" cy="2606040"/>
          </a:xfrm>
          <a:prstGeom prst="roundRect">
            <a:avLst>
              <a:gd name="adj" fmla="val 3509"/>
            </a:avLst>
          </a:prstGeom>
          <a:solidFill>
            <a:srgbClr val="D4F0DD"/>
          </a:solidFill>
          <a:ln w="19050">
            <a:solidFill>
              <a:srgbClr val="0085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5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METODOLÓGICA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680960" y="31546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com usuários (SUS, TAM) é reportada como planejada, não executada.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680960" y="416052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dados fabricados — o que não foi medido não é apresentado como resultado.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852160"/>
            <a:ext cx="548640" cy="0"/>
          </a:xfrm>
          <a:prstGeom prst="line">
            <a:avLst/>
          </a:prstGeom>
          <a:noFill/>
          <a:ln w="25400">
            <a:solidFill>
              <a:srgbClr val="00854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Honestidade vale mais que número inventado.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300" dirty="0"/>
          </a:p>
        </p:txBody>
      </p:sp>
      <p:pic>
        <p:nvPicPr>
          <p:cNvPr id="4" name="Image 0" descr="/tmp/psp2_pres/unb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0" y="137160"/>
            <a:ext cx="548640" cy="548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868680"/>
            <a:ext cx="11274552" cy="0"/>
          </a:xfrm>
          <a:prstGeom prst="line">
            <a:avLst/>
          </a:prstGeom>
          <a:noFill/>
          <a:ln w="19050">
            <a:solidFill>
              <a:srgbClr val="0033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00584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 ·  EXPERIÊNCIA DO ALUNO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1325880"/>
            <a:ext cx="112745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completa do aluno, ponta a ponta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457200" y="2697480"/>
            <a:ext cx="25100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2697480"/>
            <a:ext cx="251002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92174" y="3108960"/>
            <a:ext cx="640080" cy="6400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174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94360" y="3886200"/>
            <a:ext cx="223570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&amp; Onboarding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4526280"/>
            <a:ext cx="21442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magic link, identidade UnB, consentimento LGPD, onboarding em 4 passos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022092" y="4014216"/>
            <a:ext cx="301752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78708" y="2697480"/>
            <a:ext cx="25100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78708" y="2697480"/>
            <a:ext cx="251002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13682" y="3108960"/>
            <a:ext cx="640080" cy="6400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13682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3515868" y="3886200"/>
            <a:ext cx="223570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acadêmico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561588" y="4526280"/>
            <a:ext cx="21442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visual de horários, importação do SIGAA, conexão do Drive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943600" y="4014216"/>
            <a:ext cx="301752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00216" y="2697480"/>
            <a:ext cx="25100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0216" y="2697480"/>
            <a:ext cx="251002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35190" y="3108960"/>
            <a:ext cx="640080" cy="6400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35190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6437376" y="3886200"/>
            <a:ext cx="223570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483096" y="4526280"/>
            <a:ext cx="21442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em tempo real, gestão de documentos, transparência total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8865108" y="4014216"/>
            <a:ext cx="301752" cy="292608"/>
          </a:xfrm>
          <a:prstGeom prst="rightArrow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21724" y="2697480"/>
            <a:ext cx="25100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221724" y="2697480"/>
            <a:ext cx="2510028" cy="109728"/>
          </a:xfrm>
          <a:prstGeom prst="rect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156698" y="3108960"/>
            <a:ext cx="640080" cy="640080"/>
          </a:xfrm>
          <a:prstGeom prst="ellipse">
            <a:avLst/>
          </a:prstGeom>
          <a:solidFill>
            <a:srgbClr val="003366"/>
          </a:solidFill>
          <a:ln w="12700">
            <a:solidFill>
              <a:srgbClr val="00336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0156698" y="3108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3" name="Text 30"/>
          <p:cNvSpPr/>
          <p:nvPr/>
        </p:nvSpPr>
        <p:spPr>
          <a:xfrm>
            <a:off x="9358884" y="3886200"/>
            <a:ext cx="223570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404604" y="4526280"/>
            <a:ext cx="214426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prompts + system prompt portátil, feedback, direitos LGPD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457200" y="59436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primeira tela ao hábito de estudo — mapeada para guiar as próximas decisões de produto.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292608"/>
            <a:ext cx="50292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486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DE FUTURO  ·  ALÉM DA DISCIPLINA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457200" y="9601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unificado do estudante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hub único onde o aluno UnB centraliza tudo que importa pro semestre.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2743200" cy="0"/>
          </a:xfrm>
          <a:prstGeom prst="line">
            <a:avLst/>
          </a:prstGeom>
          <a:noFill/>
          <a:ln w="38100">
            <a:solidFill>
              <a:srgbClr val="0085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2606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EM UM LUGAR SÓ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que conecta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57200" y="3520440"/>
            <a:ext cx="292608" cy="292608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35204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3474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acadêmicas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8680" y="38404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Universidade, fórum de aulas, Drive, e-mail e calendário no mesmo lugar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4480560"/>
            <a:ext cx="292608" cy="292608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44805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de entrada única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4800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Avisos, prazos e mensagens consolidados — sem pular entre 5 sistemas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440680"/>
            <a:ext cx="292608" cy="292608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5440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68680" y="53949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semestre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68680" y="57607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Matérias, notas, grade horária e progresso no curso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63640" y="2606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QUE CONHECE O ALUNO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26364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camada que entende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263640" y="3520440"/>
            <a:ext cx="292608" cy="292608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63640" y="35204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675120" y="3474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estudo personalizado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75120" y="38404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de revisão sob medida, ajustado à carga real do semestre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63640" y="4480560"/>
            <a:ext cx="292608" cy="292608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63640" y="44805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67512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retroativo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675120" y="4800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lacunas de semestres passados antes que virem problema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63640" y="5440680"/>
            <a:ext cx="292608" cy="292608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5440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675120" y="53949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pessoal por matéria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6675120" y="57607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no nível do aluno, com a didática que casa com o professor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172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8C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à frente: planejamento e produtividade · acessibilidade · privacidade avançada · monetização sustentável.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sp2_pres/un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292608"/>
            <a:ext cx="50292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486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VAI  ·  DA DISCIPLINA À PESQUISA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457200" y="96012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seguimos — e por que vira PIBIC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2743200" cy="0"/>
          </a:xfrm>
          <a:prstGeom prst="line">
            <a:avLst/>
          </a:prstGeom>
          <a:noFill/>
          <a:ln w="38100">
            <a:solidFill>
              <a:srgbClr val="0085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 ·  DIREÇÃO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697480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6974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26517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a validação técnica (50 docs) → números reais pro artigo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355848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8680" y="331012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em ambiente público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4014216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40142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3968496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acompanhamento de usuários-teste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2920" y="4672584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46725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68680" y="4626864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o processo em PIBIC — continuidade científica (ProIC/UnB)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35508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85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  ·  PRÓXIMAS AÇÕES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355080" y="2697480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26700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20840" y="265176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de mercado em paralelo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55080" y="3355848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55080" y="33284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720840" y="331012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a direção: novas features, testes e análise de dados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355080" y="4014216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355080" y="3986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720840" y="3968496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 contínuo: segurança, logs e banco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355080" y="4672584"/>
            <a:ext cx="256032" cy="256032"/>
          </a:xfrm>
          <a:prstGeom prst="ellipse">
            <a:avLst/>
          </a:prstGeom>
          <a:solidFill>
            <a:srgbClr val="008542"/>
          </a:solidFill>
          <a:ln w="12700">
            <a:solidFill>
              <a:srgbClr val="00854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55080" y="46451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720840" y="4626864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no edital: orientador(a), projeto + plano de trabalho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4114800" y="5989320"/>
            <a:ext cx="3959352" cy="0"/>
          </a:xfrm>
          <a:prstGeom prst="line">
            <a:avLst/>
          </a:prstGeom>
          <a:noFill/>
          <a:ln w="25400">
            <a:solidFill>
              <a:srgbClr val="00854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612648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disciplina acaba; a pesquisa começa.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PSP2 — Apresentação Final</dc:title>
  <dc:subject>PptxGenJS Presentation</dc:subject>
  <dc:creator>Equipe PSP2 — UnB</dc:creator>
  <cp:lastModifiedBy>Equipe PSP2 — UnB</cp:lastModifiedBy>
  <cp:revision>1</cp:revision>
  <dcterms:created xsi:type="dcterms:W3CDTF">2026-06-25T21:26:40Z</dcterms:created>
  <dcterms:modified xsi:type="dcterms:W3CDTF">2026-06-25T21:26:40Z</dcterms:modified>
</cp:coreProperties>
</file>