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777240"/>
            <a:ext cx="1371600" cy="12161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331720"/>
            <a:ext cx="11185855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PSP2 — IA para Universitários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10128"/>
            <a:ext cx="11185855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500" b="0" i="0">
                <a:solidFill>
                  <a:srgbClr val="BFD0E6"/>
                </a:solidFill>
                <a:latin typeface="Calibri"/>
              </a:rPr>
              <a:t>Estado do Projeto — Fechamento do ciclo (Sprints 1–5)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0408" y="4023360"/>
            <a:ext cx="109728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0408" y="4023360"/>
            <a:ext cx="320040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24528"/>
            <a:ext cx="11185855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8542"/>
                </a:solidFill>
                <a:latin typeface="Calibri"/>
              </a:rPr>
              <a:t>EQUIPE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53712"/>
            <a:ext cx="1118585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FFFFFF"/>
                </a:solidFill>
                <a:latin typeface="Calibri"/>
              </a:rPr>
              <a:t>Theo Murahovschi   ·   Pedro Henrique   ·   Isaac   ·   Guilherme   ·   Luis Felipe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BFD0E6"/>
                </a:solidFill>
                <a:latin typeface="Calibri"/>
              </a:rPr>
              <a:t>Universidade de Brasília   ·   Engenharia de Produção   ·   2026.1   ·   18/06/2026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A IDEIA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VISÃO GERAL · O QUE QUEREMOS RESOLVER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Um hub que organiza o estudo do aluno UnB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6263640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O aluno recebe material solto — PDFs, slides, fotos, DOCX — em cinco sistemas diferentes. </a:t>
            </a:r>
            <a:r>
              <a:rPr sz="1900" b="1" i="0">
                <a:solidFill>
                  <a:srgbClr val="1F2937"/>
                </a:solidFill>
                <a:latin typeface="Calibri"/>
              </a:rPr>
              <a:t>Resultado: perde tempo organizando em vez de estudar.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6263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003366"/>
                </a:solidFill>
                <a:latin typeface="Calibri"/>
              </a:rPr>
              <a:t>O que ele recebe de volta: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53128"/>
            <a:ext cx="137160" cy="137160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370832"/>
            <a:ext cx="590702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Um resumo confiável de cada documento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10328"/>
            <a:ext cx="137160" cy="137160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828032"/>
            <a:ext cx="590702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Tudo nomeado e organizado por matéria, automaticamente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67528"/>
            <a:ext cx="137160" cy="137160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285232"/>
            <a:ext cx="590702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Uma biblioteca de prompts prontos pra qualquer IA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824728"/>
            <a:ext cx="137160" cy="137160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742432"/>
            <a:ext cx="590702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O próprio Drive do aluno como espelho do estudo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Menos tempo organizando. Mais tempo aprendendo.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2468880"/>
            <a:ext cx="4507992" cy="36576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651760"/>
            <a:ext cx="41148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03366"/>
                </a:solidFill>
                <a:latin typeface="Calibri"/>
              </a:rPr>
              <a:t>Como funciona, em alto nível</a:t>
            </a:r>
          </a:p>
        </p:txBody>
      </p:sp>
      <p:sp>
        <p:nvSpPr>
          <p:cNvPr id="24" name="Oval 23"/>
          <p:cNvSpPr/>
          <p:nvPr/>
        </p:nvSpPr>
        <p:spPr>
          <a:xfrm>
            <a:off x="7424927" y="3090672"/>
            <a:ext cx="530352" cy="53035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072384"/>
            <a:ext cx="347472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03366"/>
                </a:solidFill>
                <a:latin typeface="Calibri"/>
              </a:rPr>
              <a:t>O aluno envia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5606E"/>
                </a:solidFill>
                <a:latin typeface="Calibri"/>
              </a:rPr>
              <a:t>PDFs, slides, fotos, DOCX</a:t>
            </a:r>
          </a:p>
        </p:txBody>
      </p:sp>
      <p:sp>
        <p:nvSpPr>
          <p:cNvPr id="26" name="Oval 25"/>
          <p:cNvSpPr/>
          <p:nvPr/>
        </p:nvSpPr>
        <p:spPr>
          <a:xfrm>
            <a:off x="7424927" y="3840480"/>
            <a:ext cx="530352" cy="53035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822192"/>
            <a:ext cx="347472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03366"/>
                </a:solidFill>
                <a:latin typeface="Calibri"/>
              </a:rPr>
              <a:t>A IA entende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5606E"/>
                </a:solidFill>
                <a:latin typeface="Calibri"/>
              </a:rPr>
              <a:t>Identifica matéria e conteúdo</a:t>
            </a:r>
          </a:p>
        </p:txBody>
      </p:sp>
      <p:sp>
        <p:nvSpPr>
          <p:cNvPr id="28" name="Oval 27"/>
          <p:cNvSpPr/>
          <p:nvPr/>
        </p:nvSpPr>
        <p:spPr>
          <a:xfrm>
            <a:off x="7424927" y="4590288"/>
            <a:ext cx="530352" cy="53035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572000"/>
            <a:ext cx="347472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03366"/>
                </a:solidFill>
                <a:latin typeface="Calibri"/>
              </a:rPr>
              <a:t>A IA condensa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5606E"/>
                </a:solidFill>
                <a:latin typeface="Calibri"/>
              </a:rPr>
              <a:t>Sintetiza e gera a revisão</a:t>
            </a:r>
          </a:p>
        </p:txBody>
      </p:sp>
      <p:sp>
        <p:nvSpPr>
          <p:cNvPr id="30" name="Oval 29"/>
          <p:cNvSpPr/>
          <p:nvPr/>
        </p:nvSpPr>
        <p:spPr>
          <a:xfrm>
            <a:off x="7424927" y="5340096"/>
            <a:ext cx="530352" cy="53035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21808"/>
            <a:ext cx="347472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03366"/>
                </a:solidFill>
                <a:latin typeface="Calibri"/>
              </a:rPr>
              <a:t>O aluno usa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5606E"/>
                </a:solidFill>
                <a:latin typeface="Calibri"/>
              </a:rPr>
              <a:t>Drive + prompts personalizados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85416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REPLANEJAMENTO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DO PLANO INICIAL AO PLANO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O plano agora reflete o que realmente foi feito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1118585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55606E"/>
                </a:solidFill>
                <a:latin typeface="Calibri"/>
              </a:rPr>
              <a:t>A backlog inicial (4 sprints) foi reformulada retroativamente em 5 sprints — deadline 25/06 mantido.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63240"/>
            <a:ext cx="5428335" cy="233172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63240"/>
            <a:ext cx="5428335" cy="685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" y="3291840"/>
            <a:ext cx="1737360" cy="310896"/>
          </a:xfrm>
          <a:prstGeom prst="rect">
            <a:avLst/>
          </a:prstGeom>
          <a:solidFill>
            <a:srgbClr val="EAECEF"/>
          </a:solidFill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55606E"/>
                </a:solidFill>
                <a:latin typeface="Calibri"/>
              </a:rPr>
              <a:t>ANTES · 4 SPRINTS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822191"/>
            <a:ext cx="4925415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S3 · Integração + Testes com usuários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S4 · Feedback + Artigo + Apresentação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0439" y="3063240"/>
            <a:ext cx="5428335" cy="2331720"/>
          </a:xfrm>
          <a:prstGeom prst="rect">
            <a:avLst/>
          </a:prstGeom>
          <a:solidFill>
            <a:srgbClr val="DDF0E3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0439" y="3063240"/>
            <a:ext cx="5428335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6471" y="3291840"/>
            <a:ext cx="1920240" cy="310896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DEPOIS · 5 SPRINTS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3822191"/>
            <a:ext cx="4925415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05923"/>
                </a:solidFill>
                <a:latin typeface="Calibri"/>
              </a:rPr>
              <a:t>S3 · Hardening completo do sistema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05923"/>
                </a:solidFill>
                <a:latin typeface="Calibri"/>
              </a:rPr>
              <a:t>S4 · Elaboração e finalização do artigo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05923"/>
                </a:solidFill>
                <a:latin typeface="Calibri"/>
              </a:rPr>
              <a:t>S5 · Jornada do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55606E"/>
                </a:solidFill>
                <a:latin typeface="Calibri"/>
              </a:rPr>
              <a:t>O produto cresceu na prática (segurança, LGPD, jornada). O plano passou a capturar isso, em vez de tratar como "extra".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Agora plano e produto contam a mesma história.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BACKLOG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ESCOPO COMPLETO EM 5 SPRINTS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Backlog do produto — 19 histórias, 5 sprints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2645587" cy="896112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68580" cy="896112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395728"/>
            <a:ext cx="2279827" cy="8961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008542"/>
                </a:solidFill>
                <a:latin typeface="Calibri"/>
              </a:rPr>
              <a:t>19</a:t>
            </a:r>
            <a:r>
              <a:rPr sz="1500" b="0" i="0">
                <a:solidFill>
                  <a:srgbClr val="55606E"/>
                </a:solidFill>
                <a:latin typeface="Calibri"/>
              </a:rPr>
              <a:t>  histórias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9675" y="2395728"/>
            <a:ext cx="2645587" cy="896112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9675" y="2395728"/>
            <a:ext cx="68580" cy="896112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707" y="2395728"/>
            <a:ext cx="2279827" cy="8961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008542"/>
                </a:solidFill>
                <a:latin typeface="Calibri"/>
              </a:rPr>
              <a:t>69</a:t>
            </a:r>
            <a:r>
              <a:rPr sz="1500" b="0" i="0">
                <a:solidFill>
                  <a:srgbClr val="55606E"/>
                </a:solidFill>
                <a:latin typeface="Calibri"/>
              </a:rPr>
              <a:t>  tarefas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31" y="2395728"/>
            <a:ext cx="2645587" cy="896112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6431" y="2395728"/>
            <a:ext cx="68580" cy="896112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2395728"/>
            <a:ext cx="2279827" cy="8961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008542"/>
                </a:solidFill>
                <a:latin typeface="Calibri"/>
              </a:rPr>
              <a:t>5</a:t>
            </a:r>
            <a:r>
              <a:rPr sz="1500" b="0" i="0">
                <a:solidFill>
                  <a:srgbClr val="55606E"/>
                </a:solidFill>
                <a:latin typeface="Calibri"/>
              </a:rPr>
              <a:t>  sprints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187" y="2395728"/>
            <a:ext cx="2645587" cy="896112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187" y="2395728"/>
            <a:ext cx="68580" cy="896112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219" y="2395728"/>
            <a:ext cx="2279827" cy="8961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008542"/>
                </a:solidFill>
                <a:latin typeface="Calibri"/>
              </a:rPr>
              <a:t>5</a:t>
            </a:r>
            <a:r>
              <a:rPr sz="1500" b="0" i="0">
                <a:solidFill>
                  <a:srgbClr val="55606E"/>
                </a:solidFill>
                <a:latin typeface="Calibri"/>
              </a:rPr>
              <a:t>  integrantes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2090867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39"/>
            <a:ext cx="2090867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96512"/>
            <a:ext cx="1816547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366"/>
                </a:solidFill>
                <a:latin typeface="Calibri"/>
              </a:rPr>
              <a:t>Fundação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H1–H4 · 21 tarefas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37760"/>
            <a:ext cx="1816547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6667" y="3520440"/>
            <a:ext cx="2090867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6667" y="3977639"/>
            <a:ext cx="2090867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3827" y="4096512"/>
            <a:ext cx="1816547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366"/>
                </a:solidFill>
                <a:latin typeface="Calibri"/>
              </a:rPr>
              <a:t>Inteligência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H5–H7 · 13 tarefas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13827" y="4937760"/>
            <a:ext cx="1816547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50414" y="3520440"/>
            <a:ext cx="2090867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50414" y="3977639"/>
            <a:ext cx="2090867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87574" y="4096512"/>
            <a:ext cx="1816547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366"/>
                </a:solidFill>
                <a:latin typeface="Calibri"/>
              </a:rPr>
              <a:t>Hardening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H13–H18 · 18 tarefas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7574" y="4937760"/>
            <a:ext cx="1816547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24161" y="3520440"/>
            <a:ext cx="2090867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4161" y="3977639"/>
            <a:ext cx="2090867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321" y="4096512"/>
            <a:ext cx="1816547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366"/>
                </a:solidFill>
                <a:latin typeface="Calibri"/>
              </a:rPr>
              <a:t>Artigo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H19–H20 · 6 tarefas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61321" y="4937760"/>
            <a:ext cx="1816547" cy="310896"/>
          </a:xfrm>
          <a:prstGeom prst="rect">
            <a:avLst/>
          </a:prstGeom>
          <a:solidFill>
            <a:srgbClr val="FBE9D3"/>
          </a:solidFill>
          <a:ln w="12700">
            <a:solidFill>
              <a:srgbClr val="FB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B85C00"/>
                </a:solidFill>
                <a:latin typeface="Calibri"/>
              </a:rPr>
              <a:t>EM FINALIZAÇÃO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97908" y="3520440"/>
            <a:ext cx="2090867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7908" y="3977639"/>
            <a:ext cx="2090867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5068" y="4096512"/>
            <a:ext cx="1816547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366"/>
                </a:solidFill>
                <a:latin typeface="Calibri"/>
              </a:rPr>
              <a:t>Jornada do cliente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H21–H24 · 11 tarefas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5068" y="4937760"/>
            <a:ext cx="1816547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486400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596128"/>
            <a:ext cx="10637215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366"/>
                </a:solidFill>
                <a:latin typeface="Calibri"/>
              </a:rPr>
              <a:t>Entregas também atualizadas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docs de tarefa (T35–T69) · relatórios por sprint (3 e 4 revisados, 5 novo) · relatório geral · artigo ENEGEP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FLUXO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DO COMEÇO AO FIM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As 5 sprints, lado a 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2090867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FD0E6"/>
                </a:solidFill>
                <a:latin typeface="Calibri"/>
              </a:rPr>
              <a:t>Fundação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00400"/>
            <a:ext cx="2090867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" y="3401568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328416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Arquitetura &amp; stack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" y="3968496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895344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API de upload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" y="4535424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462272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Interface drag-and-drop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" y="5084064"/>
            <a:ext cx="1798259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6667" y="2487168"/>
            <a:ext cx="2090867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FD0E6"/>
                </a:solidFill>
                <a:latin typeface="Calibri"/>
              </a:rPr>
              <a:t>Inteligência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76667" y="3200400"/>
            <a:ext cx="2090867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2971" y="3401568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5851" y="3328416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Pipeline LLM</a:t>
            </a:r>
          </a:p>
        </p:txBody>
      </p:sp>
      <p:sp>
        <p:nvSpPr>
          <p:cNvPr id="23" name="Oval 22"/>
          <p:cNvSpPr/>
          <p:nvPr/>
        </p:nvSpPr>
        <p:spPr>
          <a:xfrm>
            <a:off x="2922971" y="3968496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5851" y="3895344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Exportação Drive</a:t>
            </a:r>
          </a:p>
        </p:txBody>
      </p:sp>
      <p:sp>
        <p:nvSpPr>
          <p:cNvPr id="25" name="Oval 24"/>
          <p:cNvSpPr/>
          <p:nvPr/>
        </p:nvSpPr>
        <p:spPr>
          <a:xfrm>
            <a:off x="2922971" y="4535424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5851" y="4462272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System prompt + biblioteca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2971" y="5084064"/>
            <a:ext cx="1798259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50414" y="2487168"/>
            <a:ext cx="2090867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FD0E6"/>
                </a:solidFill>
                <a:latin typeface="Calibri"/>
              </a:rPr>
              <a:t>Hardening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50414" y="3200400"/>
            <a:ext cx="2090867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96718" y="3401568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79598" y="3328416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Segurança &amp; RLS</a:t>
            </a:r>
          </a:p>
        </p:txBody>
      </p:sp>
      <p:sp>
        <p:nvSpPr>
          <p:cNvPr id="32" name="Oval 31"/>
          <p:cNvSpPr/>
          <p:nvPr/>
        </p:nvSpPr>
        <p:spPr>
          <a:xfrm>
            <a:off x="5196718" y="3968496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9598" y="3895344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Pipeline resiliente</a:t>
            </a:r>
          </a:p>
        </p:txBody>
      </p:sp>
      <p:sp>
        <p:nvSpPr>
          <p:cNvPr id="34" name="Oval 33"/>
          <p:cNvSpPr/>
          <p:nvPr/>
        </p:nvSpPr>
        <p:spPr>
          <a:xfrm>
            <a:off x="5196718" y="4535424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9598" y="4462272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Observabilidade, a11y, CI/CD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96718" y="5084064"/>
            <a:ext cx="1798259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24161" y="2487168"/>
            <a:ext cx="2090867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FD0E6"/>
                </a:solidFill>
                <a:latin typeface="Calibri"/>
              </a:rPr>
              <a:t>Artigo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24161" y="3200400"/>
            <a:ext cx="2090867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70465" y="3401568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53345" y="3328416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Corpo ABNT (6 seções)</a:t>
            </a:r>
          </a:p>
        </p:txBody>
      </p:sp>
      <p:sp>
        <p:nvSpPr>
          <p:cNvPr id="41" name="Oval 40"/>
          <p:cNvSpPr/>
          <p:nvPr/>
        </p:nvSpPr>
        <p:spPr>
          <a:xfrm>
            <a:off x="7470465" y="3968496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345" y="3895344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Método DSR</a:t>
            </a:r>
          </a:p>
        </p:txBody>
      </p:sp>
      <p:sp>
        <p:nvSpPr>
          <p:cNvPr id="43" name="Oval 42"/>
          <p:cNvSpPr/>
          <p:nvPr/>
        </p:nvSpPr>
        <p:spPr>
          <a:xfrm>
            <a:off x="7470465" y="4535424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53345" y="4462272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Finalização &amp; submissão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70465" y="5084064"/>
            <a:ext cx="1798259" cy="310896"/>
          </a:xfrm>
          <a:prstGeom prst="rect">
            <a:avLst/>
          </a:prstGeom>
          <a:solidFill>
            <a:srgbClr val="FBE9D3"/>
          </a:solidFill>
          <a:ln w="12700">
            <a:solidFill>
              <a:srgbClr val="FB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B85C00"/>
                </a:solidFill>
                <a:latin typeface="Calibri"/>
              </a:rPr>
              <a:t>EM FINALIZAÇÃO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97908" y="2487168"/>
            <a:ext cx="2090867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FD0E6"/>
                </a:solidFill>
                <a:latin typeface="Calibri"/>
              </a:rPr>
              <a:t>Jornada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97908" y="3200400"/>
            <a:ext cx="2090867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44212" y="3401568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7092" y="3328416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Onboarding &amp; LGPD</a:t>
            </a:r>
          </a:p>
        </p:txBody>
      </p:sp>
      <p:sp>
        <p:nvSpPr>
          <p:cNvPr id="50" name="Oval 49"/>
          <p:cNvSpPr/>
          <p:nvPr/>
        </p:nvSpPr>
        <p:spPr>
          <a:xfrm>
            <a:off x="9744212" y="3968496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7092" y="3895344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Perfil + SIGAA + Drive</a:t>
            </a:r>
          </a:p>
        </p:txBody>
      </p:sp>
      <p:sp>
        <p:nvSpPr>
          <p:cNvPr id="52" name="Oval 51"/>
          <p:cNvSpPr/>
          <p:nvPr/>
        </p:nvSpPr>
        <p:spPr>
          <a:xfrm>
            <a:off x="9744212" y="4535424"/>
            <a:ext cx="109728" cy="10972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7092" y="4462272"/>
            <a:ext cx="1670243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Jornada do cliente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44212" y="5084064"/>
            <a:ext cx="1798259" cy="310896"/>
          </a:xfrm>
          <a:prstGeom prst="rect">
            <a:avLst/>
          </a:prstGeom>
          <a:solidFill>
            <a:srgbClr val="DDF0E3"/>
          </a:solidFill>
          <a:ln w="12700">
            <a:solidFill>
              <a:srgbClr val="D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8542"/>
                </a:solidFill>
                <a:latin typeface="Calibri"/>
              </a:rPr>
              <a:t>CONCLUÍDA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87959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98017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Cinco etapas, uma linha contínua.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3049524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FLUXO REAL &amp; ROBUSTEZ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SPRINT 3 ·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O sistema passou a funcionar de verdade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2090867" cy="18288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2090867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578608"/>
            <a:ext cx="1798259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03366"/>
                </a:solidFill>
                <a:latin typeface="Calibri"/>
              </a:rPr>
              <a:t>Login &amp; autenticação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606E"/>
                </a:solidFill>
                <a:latin typeface="Calibri"/>
              </a:rPr>
              <a:t>Entrada segura, sessão e proteção de rotas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6667" y="2395728"/>
            <a:ext cx="2090867" cy="18288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6667" y="2395728"/>
            <a:ext cx="2090867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2971" y="2578608"/>
            <a:ext cx="1798259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03366"/>
                </a:solidFill>
                <a:latin typeface="Calibri"/>
              </a:rPr>
              <a:t>Conexão Google Drive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606E"/>
                </a:solidFill>
                <a:latin typeface="Calibri"/>
              </a:rPr>
              <a:t>OAuth, refresh de token, upload idempotente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0414" y="2395728"/>
            <a:ext cx="2090867" cy="18288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0414" y="2395728"/>
            <a:ext cx="2090867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6718" y="2578608"/>
            <a:ext cx="1798259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03366"/>
                </a:solidFill>
                <a:latin typeface="Calibri"/>
              </a:rPr>
              <a:t>Estruturação de pastas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606E"/>
                </a:solidFill>
                <a:latin typeface="Calibri"/>
              </a:rPr>
              <a:t>Hierarquia por semestre e matéria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4161" y="2395728"/>
            <a:ext cx="2090867" cy="18288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4161" y="2395728"/>
            <a:ext cx="2090867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465" y="2578608"/>
            <a:ext cx="1798259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03366"/>
                </a:solidFill>
                <a:latin typeface="Calibri"/>
              </a:rPr>
              <a:t>Fluxo ponta-a-ponta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606E"/>
                </a:solidFill>
                <a:latin typeface="Calibri"/>
              </a:rPr>
              <a:t>Do upload à exportação, sem passo manual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97908" y="2395728"/>
            <a:ext cx="2090867" cy="18288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97908" y="2395728"/>
            <a:ext cx="2090867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4212" y="2578608"/>
            <a:ext cx="1798259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03366"/>
                </a:solidFill>
                <a:latin typeface="Calibri"/>
              </a:rPr>
              <a:t>Banco de dados sólido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606E"/>
                </a:solidFill>
                <a:latin typeface="Calibri"/>
              </a:rPr>
              <a:t>RLS, anti-escalada, tokens fora do navegador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34840"/>
            <a:ext cx="11185855" cy="1298448"/>
          </a:xfrm>
          <a:prstGeom prst="roundRect">
            <a:avLst>
              <a:gd name="adj" fmla="val 6000"/>
            </a:avLst>
          </a:prstGeom>
          <a:solidFill>
            <a:srgbClr val="DDF0E3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553712"/>
            <a:ext cx="10600639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2937"/>
                </a:solidFill>
                <a:latin typeface="Calibri"/>
              </a:rPr>
              <a:t>Hardening guiado por 4 rodadas de auditoria — ~200 achados, 1 crítico (escalada de admin) resolvido.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005923"/>
                </a:solidFill>
                <a:latin typeface="Calibri"/>
              </a:rPr>
              <a:t>E mais: correção de bugs · correção de falhas de segurança · otimizações de código · inovações (calendário, cronograma, biblioteca de prompts).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De peças soltas a um fluxo sólido.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463040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PESQUISA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SPRINT 4 · ARTIGO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Artigo ENEGEP 2026 — pronto e honesto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42032"/>
            <a:ext cx="11185855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42032"/>
            <a:ext cx="68580" cy="91440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542032"/>
            <a:ext cx="10500055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Artigo científico completo sob o método Design Science Research, em 6 seções no padrão ABNT NBR 14724 (~14 páginas).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39311"/>
            <a:ext cx="11185855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39311"/>
            <a:ext cx="68580" cy="91440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1"/>
            <a:ext cx="10500055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O artefato — protótipo funcional de ponta a ponta — é o resultado principal do ciclo, sintetizado na Tabela 1 de componentes.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36592"/>
            <a:ext cx="11185855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736592"/>
            <a:ext cx="68580" cy="9144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736592"/>
            <a:ext cx="10500055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Integridade metodológica: a avaliação com usuários (SUS, TAM) é reportada como planejada, não executada — sem dados fabricados.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Honestidade vale mais que número inventado.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815084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EXPERIÊNCIA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SPRINT 5 · JORNADA DO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A jornada completa do aluno, ponta a ponta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5446623" cy="129844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68580" cy="12984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578608"/>
            <a:ext cx="4897983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Aquisição &amp; Onboarding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5606E"/>
                </a:solidFill>
                <a:latin typeface="Calibri"/>
              </a:rPr>
              <a:t>Login + magic link, identidade UnB, consentimento LGPD, onboarding em 4 passos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2151" y="2395728"/>
            <a:ext cx="5446623" cy="129844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2151" y="2395728"/>
            <a:ext cx="68580" cy="12984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1335" y="2578608"/>
            <a:ext cx="4897983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Perfil acadêmico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5606E"/>
                </a:solidFill>
                <a:latin typeface="Calibri"/>
              </a:rPr>
              <a:t>Grade visual de horários + importação do SIGAA, conexão do Drive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77056"/>
            <a:ext cx="5446623" cy="129844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77056"/>
            <a:ext cx="68580" cy="12984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59936"/>
            <a:ext cx="4897983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Uso diário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5606E"/>
                </a:solidFill>
                <a:latin typeface="Calibri"/>
              </a:rPr>
              <a:t>Dashboard em tempo real, gestão de documentos, transparência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2151" y="3877056"/>
            <a:ext cx="5446623" cy="129844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2151" y="3877056"/>
            <a:ext cx="68580" cy="12984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1335" y="4059936"/>
            <a:ext cx="4897983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Voz do cliente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5606E"/>
                </a:solidFill>
                <a:latin typeface="Calibri"/>
              </a:rPr>
              <a:t>Biblioteca de prompts + system prompt portátil, feedback, direitos LGPD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40680"/>
            <a:ext cx="11185855" cy="841248"/>
          </a:xfrm>
          <a:prstGeom prst="roundRect">
            <a:avLst>
              <a:gd name="adj" fmla="val 6000"/>
            </a:avLst>
          </a:prstGeom>
          <a:solidFill>
            <a:srgbClr val="DDF0E3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440680"/>
            <a:ext cx="10600639" cy="8412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05923"/>
                </a:solidFill>
                <a:latin typeface="Calibri"/>
              </a:rPr>
              <a:t>Mapeamos toda a jornada do cliente — da descoberta ao hábito de uso — para guiar as próximas decisões de produto.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8251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8309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Da primeira tela ao hábito de estudo.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85416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ALÉM DO ESCOPO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O PRODUTO ENTREGUE É MAIOR QUE O PLANEJADO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O que cresceu durante a execução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3576218" cy="148132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3576218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3210458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3366"/>
                </a:solidFill>
                <a:latin typeface="Calibri"/>
              </a:rPr>
              <a:t>Experiência do aluno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Identidade UnB, onboarding, busca/filtros, arquivar/excluir, tema escuro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7738" y="2395728"/>
            <a:ext cx="3576218" cy="148132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2395728"/>
            <a:ext cx="3576218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0618" y="2578608"/>
            <a:ext cx="3210458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3366"/>
                </a:solidFill>
                <a:latin typeface="Calibri"/>
              </a:rPr>
              <a:t>Acompanhamento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Página de atividade, métricas pessoais, painel administrativo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2556" y="2395728"/>
            <a:ext cx="3576218" cy="148132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2556" y="2395728"/>
            <a:ext cx="3576218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5436" y="2578608"/>
            <a:ext cx="3210458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3366"/>
                </a:solidFill>
                <a:latin typeface="Calibri"/>
              </a:rPr>
              <a:t>Segurança &amp; privacidade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Hardening de acesso, sandbox anti-injeção, LGPD completa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87368"/>
            <a:ext cx="3576218" cy="148132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87368"/>
            <a:ext cx="3576218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8"/>
            <a:ext cx="3210458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3366"/>
                </a:solidFill>
                <a:latin typeface="Calibri"/>
              </a:rPr>
              <a:t>Inteligência do pipeline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Validação em 4 camadas (LLM-as-judge), import SIGAA, modos compacta/cola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7738" y="4087368"/>
            <a:ext cx="3576218" cy="148132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7738" y="4087368"/>
            <a:ext cx="3576218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0618" y="4270248"/>
            <a:ext cx="3210458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3366"/>
                </a:solidFill>
                <a:latin typeface="Calibri"/>
              </a:rPr>
              <a:t>Confiabilidade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Logs sem PII, atualização em tempo real, CI/CD com gate, auditoria multi-frente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2556" y="4087368"/>
            <a:ext cx="3576218" cy="1481328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2556" y="4087368"/>
            <a:ext cx="3576218" cy="6858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5436" y="4270248"/>
            <a:ext cx="3210458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3366"/>
                </a:solidFill>
                <a:latin typeface="Calibri"/>
              </a:rPr>
              <a:t>Flexibilidade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5606E"/>
                </a:solidFill>
                <a:latin typeface="Calibri"/>
              </a:rPr>
              <a:t>Troca de modelo sem deploy, multi-provider de IA, biblioteca de prompts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O produto cresceu — e o plano acompanhou.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2240280" cy="420624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ALÉM DA DISCIPLINA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048"/>
            <a:ext cx="603504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97280"/>
            <a:ext cx="11185855" cy="7772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Sistema inteligente unificado do estudante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38528"/>
            <a:ext cx="1118585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BFD0E6"/>
                </a:solidFill>
                <a:latin typeface="Calibri"/>
              </a:rPr>
              <a:t>O hub único onde o aluno UnB centraliza tudo que importa pro semestre.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60320"/>
            <a:ext cx="5410047" cy="2743200"/>
          </a:xfrm>
          <a:prstGeom prst="roundRect">
            <a:avLst>
              <a:gd name="adj" fmla="val 4000"/>
            </a:avLst>
          </a:prstGeom>
          <a:solidFill>
            <a:srgbClr val="0A2A4A"/>
          </a:solidFill>
          <a:ln w="9525">
            <a:solidFill>
              <a:srgbClr val="2A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5410047" cy="54864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61407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08542"/>
                </a:solidFill>
                <a:latin typeface="Calibri"/>
              </a:rPr>
              <a:t>TUDO EM UM LUGAR SÓ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3346704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255264"/>
            <a:ext cx="4587087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Plataformas acadêmicas: universidade, fórum, Drive, e-mail e calendário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3950208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858768"/>
            <a:ext cx="4587087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Caixa de entrada única: avisos, prazos e mensagens consolidados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4553712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462272"/>
            <a:ext cx="4587087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Painel do semestre: matérias, notas, grade e progresso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560320"/>
            <a:ext cx="5410047" cy="2743200"/>
          </a:xfrm>
          <a:prstGeom prst="roundRect">
            <a:avLst>
              <a:gd name="adj" fmla="val 4000"/>
            </a:avLst>
          </a:prstGeom>
          <a:solidFill>
            <a:srgbClr val="0A2A4A"/>
          </a:solidFill>
          <a:ln w="9525">
            <a:solidFill>
              <a:srgbClr val="2A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2560320"/>
            <a:ext cx="5410047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2743200"/>
            <a:ext cx="4861407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B81C"/>
                </a:solidFill>
                <a:latin typeface="Calibri"/>
              </a:rPr>
              <a:t>IA QUE CONHECE O ALUNO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346704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255264"/>
            <a:ext cx="4587087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Plano de estudo personalizado, sob medida pra carga do semestre</a:t>
            </a:r>
          </a:p>
        </p:txBody>
      </p:sp>
      <p:sp>
        <p:nvSpPr>
          <p:cNvPr id="20" name="Oval 19"/>
          <p:cNvSpPr/>
          <p:nvPr/>
        </p:nvSpPr>
        <p:spPr>
          <a:xfrm>
            <a:off x="6571335" y="3950208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9079" y="3858768"/>
            <a:ext cx="4587087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Reforço retroativo: identifica lacunas de semestres passados</a:t>
            </a:r>
          </a:p>
        </p:txBody>
      </p:sp>
      <p:sp>
        <p:nvSpPr>
          <p:cNvPr id="22" name="Oval 21"/>
          <p:cNvSpPr/>
          <p:nvPr/>
        </p:nvSpPr>
        <p:spPr>
          <a:xfrm>
            <a:off x="6571335" y="4553712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9079" y="4462272"/>
            <a:ext cx="4587087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Tutor pessoal por matéria, no nível do aluno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32120"/>
            <a:ext cx="1118585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BFD0E6"/>
                </a:solidFill>
                <a:latin typeface="Calibri"/>
              </a:rPr>
              <a:t>Também à frente: </a:t>
            </a:r>
            <a:r>
              <a:rPr sz="1400" b="0" i="0">
                <a:solidFill>
                  <a:srgbClr val="BFD0E6"/>
                </a:solidFill>
                <a:latin typeface="Calibri"/>
              </a:rPr>
              <a:t>planejamento e produtividade · acessibilidade · privacidade avançada · monetização sustentável.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035040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Menos abas abertas. Mais foco. Mais tempo pro aluno.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BFD0E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061972" cy="40233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PARA ONDE VAI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4592"/>
            <a:ext cx="603504" cy="603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932688"/>
            <a:ext cx="11185855" cy="16459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37160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384048" cy="45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85855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008542"/>
                </a:solidFill>
                <a:latin typeface="Calibri"/>
              </a:rPr>
              <a:t>DA DISCIPLINA À PESQUISA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85855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>
                <a:solidFill>
                  <a:srgbClr val="003366"/>
                </a:solidFill>
                <a:latin typeface="Calibri"/>
              </a:rPr>
              <a:t>Como seguimos — e por que vira PIBIC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37376"/>
            <a:ext cx="6400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39F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5446623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MACRO · direção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52928"/>
            <a:ext cx="5446623" cy="315468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172968"/>
            <a:ext cx="137160" cy="137160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072384"/>
            <a:ext cx="4715103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>
                <a:solidFill>
                  <a:srgbClr val="1F2937"/>
                </a:solidFill>
                <a:latin typeface="Calibri"/>
              </a:rPr>
              <a:t>Testar a direção: features novas, testes, feedbacks e análise de dados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87368"/>
            <a:ext cx="137160" cy="137160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986783"/>
            <a:ext cx="4715103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>
                <a:solidFill>
                  <a:srgbClr val="1F2937"/>
                </a:solidFill>
                <a:latin typeface="Calibri"/>
              </a:rPr>
              <a:t>Pesquisa de mercado em paralelo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001768"/>
            <a:ext cx="137160" cy="137160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901183"/>
            <a:ext cx="4715103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05923"/>
                </a:solidFill>
                <a:latin typeface="Calibri"/>
              </a:rPr>
              <a:t>Transformar o processo em PIBIC — continuidade científica (ProIC/UnB)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2151" y="2395728"/>
            <a:ext cx="5446623" cy="45720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MICRO · próximas ações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2151" y="2852928"/>
            <a:ext cx="5446623" cy="3154680"/>
          </a:xfrm>
          <a:prstGeom prst="rect">
            <a:avLst/>
          </a:prstGeom>
          <a:solidFill>
            <a:srgbClr val="F7F9FB"/>
          </a:solidFill>
          <a:ln w="9525">
            <a:solidFill>
              <a:srgbClr val="E6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0751" y="3136391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9351" y="3054096"/>
            <a:ext cx="4760823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Rodar a validação técnica (50 docs) → números reais pro artigo</a:t>
            </a:r>
          </a:p>
        </p:txBody>
      </p:sp>
      <p:sp>
        <p:nvSpPr>
          <p:cNvPr id="22" name="Oval 21"/>
          <p:cNvSpPr/>
          <p:nvPr/>
        </p:nvSpPr>
        <p:spPr>
          <a:xfrm>
            <a:off x="6470751" y="3639312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9351" y="3557015"/>
            <a:ext cx="4760823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Entrar no PIBIC: edital, orientador(a), projeto + plano de trabalho</a:t>
            </a:r>
          </a:p>
        </p:txBody>
      </p:sp>
      <p:sp>
        <p:nvSpPr>
          <p:cNvPr id="24" name="Oval 23"/>
          <p:cNvSpPr/>
          <p:nvPr/>
        </p:nvSpPr>
        <p:spPr>
          <a:xfrm>
            <a:off x="6470751" y="4142232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9351" y="4059935"/>
            <a:ext cx="4760823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Deploy em ambiente público</a:t>
            </a:r>
          </a:p>
        </p:txBody>
      </p:sp>
      <p:sp>
        <p:nvSpPr>
          <p:cNvPr id="26" name="Oval 25"/>
          <p:cNvSpPr/>
          <p:nvPr/>
        </p:nvSpPr>
        <p:spPr>
          <a:xfrm>
            <a:off x="6470751" y="4645152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9351" y="4562856"/>
            <a:ext cx="4760823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Seleção e acompanhamento de usuários-teste</a:t>
            </a:r>
          </a:p>
        </p:txBody>
      </p:sp>
      <p:sp>
        <p:nvSpPr>
          <p:cNvPr id="28" name="Oval 27"/>
          <p:cNvSpPr/>
          <p:nvPr/>
        </p:nvSpPr>
        <p:spPr>
          <a:xfrm>
            <a:off x="6470751" y="5148072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9351" y="5065776"/>
            <a:ext cx="4760823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Hardening contínuo: segurança, logs e banco</a:t>
            </a:r>
          </a:p>
        </p:txBody>
      </p:sp>
      <p:sp>
        <p:nvSpPr>
          <p:cNvPr id="30" name="Oval 29"/>
          <p:cNvSpPr/>
          <p:nvPr/>
        </p:nvSpPr>
        <p:spPr>
          <a:xfrm>
            <a:off x="6470751" y="5650992"/>
            <a:ext cx="118872" cy="118872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9351" y="5568696"/>
            <a:ext cx="4760823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Novas features para sentir a direção — ex.: flashcards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36792"/>
            <a:ext cx="548640" cy="45720"/>
          </a:xfrm>
          <a:prstGeom prst="rect">
            <a:avLst/>
          </a:prstGeom>
          <a:solidFill>
            <a:srgbClr val="008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1008857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A disciplina acaba; a pesquisa começa.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